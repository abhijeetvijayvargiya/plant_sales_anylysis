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2" Type="http://schemas.openxmlformats.org/officeDocument/2006/relationships/notesSlide" Target="../notesSlides/notesSlide3.xml"/><Relationship Id="rId11" Type="http://schemas.openxmlformats.org/officeDocument/2006/relationships/slideLayout" Target="../slideLayouts/slideLayout1.xml"/><Relationship Id="rId10" Type="http://schemas.openxmlformats.org/officeDocument/2006/relationships/image" Target="../media/image7.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25.png"/><Relationship Id="rId6" Type="http://schemas.openxmlformats.org/officeDocument/2006/relationships/image" Target="../media/image21.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png"/><Relationship Id="rId7" Type="http://schemas.openxmlformats.org/officeDocument/2006/relationships/image" Target="../media/image15.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8.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3.png"/><Relationship Id="rId7" Type="http://schemas.openxmlformats.org/officeDocument/2006/relationships/image" Target="../media/image31.png"/><Relationship Id="rId6" Type="http://schemas.openxmlformats.org/officeDocument/2006/relationships/image" Target="../media/image9.png"/><Relationship Id="rId5" Type="http://schemas.openxmlformats.org/officeDocument/2006/relationships/image" Target="../media/image30.png"/><Relationship Id="rId4" Type="http://schemas.openxmlformats.org/officeDocument/2006/relationships/image" Target="../media/image14.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9.xml"/><Relationship Id="rId1" Type="http://schemas.openxmlformats.org/officeDocument/2006/relationships/image" Target="../media/image29.png"/></Relationships>
</file>

<file path=ppt/slides/_rels/slide10.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18.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6" Type="http://schemas.openxmlformats.org/officeDocument/2006/relationships/notesSlide" Target="../notesSlides/notesSlide10.xml"/><Relationship Id="rId15" Type="http://schemas.openxmlformats.org/officeDocument/2006/relationships/slideLayout" Target="../slideLayouts/slideLayout1.xml"/><Relationship Id="rId14" Type="http://schemas.openxmlformats.org/officeDocument/2006/relationships/image" Target="../media/image29.png"/><Relationship Id="rId13" Type="http://schemas.openxmlformats.org/officeDocument/2006/relationships/image" Target="../media/image41.png"/><Relationship Id="rId12" Type="http://schemas.openxmlformats.org/officeDocument/2006/relationships/image" Target="../media/image40.png"/><Relationship Id="rId11" Type="http://schemas.openxmlformats.org/officeDocument/2006/relationships/image" Target="../media/image28.png"/><Relationship Id="rId10" Type="http://schemas.openxmlformats.org/officeDocument/2006/relationships/image" Target="../media/image39.png"/><Relationship Id="rId1"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318"/>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F4A24"/>
          </a:solidFill>
        </p:spPr>
      </p:sp>
      <p:sp>
        <p:nvSpPr>
          <p:cNvPr id="3" name="Shape 1"/>
          <p:cNvSpPr/>
          <p:nvPr/>
        </p:nvSpPr>
        <p:spPr>
          <a:xfrm>
            <a:off x="9692640" y="3931920"/>
            <a:ext cx="5029200" cy="5029200"/>
          </a:xfrm>
          <a:prstGeom prst="ellipse">
            <a:avLst/>
          </a:prstGeom>
          <a:solidFill>
            <a:srgbClr val="1F4A24"/>
          </a:solidFill>
        </p:spPr>
      </p:sp>
      <p:sp>
        <p:nvSpPr>
          <p:cNvPr id="4" name="Shape 2"/>
          <p:cNvSpPr/>
          <p:nvPr/>
        </p:nvSpPr>
        <p:spPr>
          <a:xfrm>
            <a:off x="10607040" y="-1280160"/>
            <a:ext cx="2743200" cy="2743200"/>
          </a:xfrm>
          <a:prstGeom prst="ellipse">
            <a:avLst/>
          </a:prstGeom>
          <a:solidFill>
            <a:srgbClr val="4C7A3F"/>
          </a:solidFill>
        </p:spPr>
      </p:sp>
      <p:sp>
        <p:nvSpPr>
          <p:cNvPr id="5" name="Shape 3"/>
          <p:cNvSpPr/>
          <p:nvPr/>
        </p:nvSpPr>
        <p:spPr>
          <a:xfrm>
            <a:off x="10561320" y="594360"/>
            <a:ext cx="960120" cy="960120"/>
          </a:xfrm>
          <a:prstGeom prst="ellipse">
            <a:avLst/>
          </a:prstGeom>
          <a:solidFill>
            <a:srgbClr val="4C7A3F"/>
          </a:solidFill>
        </p:spPr>
      </p:sp>
      <p:pic>
        <p:nvPicPr>
          <p:cNvPr id="6" name="Image 0" descr="preencoded.png"/>
          <p:cNvPicPr>
            <a:picLocks noChangeAspect="1"/>
          </p:cNvPicPr>
          <p:nvPr/>
        </p:nvPicPr>
        <p:blipFill>
          <a:blip r:embed="rId1"/>
          <a:stretch>
            <a:fillRect/>
          </a:stretch>
        </p:blipFill>
        <p:spPr>
          <a:xfrm>
            <a:off x="10801350" y="834390"/>
            <a:ext cx="480060" cy="480060"/>
          </a:xfrm>
          <a:prstGeom prst="rect">
            <a:avLst/>
          </a:prstGeom>
        </p:spPr>
      </p:pic>
      <p:sp>
        <p:nvSpPr>
          <p:cNvPr id="7" name="Shape 4"/>
          <p:cNvSpPr/>
          <p:nvPr/>
        </p:nvSpPr>
        <p:spPr>
          <a:xfrm>
            <a:off x="9464040" y="594360"/>
            <a:ext cx="960120" cy="960120"/>
          </a:xfrm>
          <a:prstGeom prst="ellipse">
            <a:avLst/>
          </a:prstGeom>
          <a:solidFill>
            <a:srgbClr val="4C7A3F"/>
          </a:solidFill>
        </p:spPr>
      </p:sp>
      <p:pic>
        <p:nvPicPr>
          <p:cNvPr id="8" name="Image 1" descr="preencoded.png"/>
          <p:cNvPicPr>
            <a:picLocks noChangeAspect="1"/>
          </p:cNvPicPr>
          <p:nvPr/>
        </p:nvPicPr>
        <p:blipFill>
          <a:blip r:embed="rId2"/>
          <a:stretch>
            <a:fillRect/>
          </a:stretch>
        </p:blipFill>
        <p:spPr>
          <a:xfrm>
            <a:off x="9704070" y="834390"/>
            <a:ext cx="480060" cy="480060"/>
          </a:xfrm>
          <a:prstGeom prst="rect">
            <a:avLst/>
          </a:prstGeom>
        </p:spPr>
      </p:pic>
      <p:sp>
        <p:nvSpPr>
          <p:cNvPr id="9" name="Text 5"/>
          <p:cNvSpPr/>
          <p:nvPr/>
        </p:nvSpPr>
        <p:spPr>
          <a:xfrm>
            <a:off x="822960" y="1965960"/>
            <a:ext cx="8686800" cy="365760"/>
          </a:xfrm>
          <a:prstGeom prst="rect">
            <a:avLst/>
          </a:prstGeom>
          <a:noFill/>
        </p:spPr>
        <p:txBody>
          <a:bodyPr wrap="square" lIns="0" tIns="0" rIns="0" bIns="0" rtlCol="0" anchor="ctr"/>
          <a:lstStyle/>
          <a:p>
            <a:pPr marL="0" indent="0">
              <a:buNone/>
            </a:pPr>
            <a:r>
              <a:rPr lang="en-US" sz="1400" b="1" kern="0" spc="300" dirty="0">
                <a:solidFill>
                  <a:srgbClr val="8FBF6B"/>
                </a:solidFill>
                <a:latin typeface="Calibri" panose="020F0502020204030204" pitchFamily="34" charset="0"/>
                <a:ea typeface="Calibri" panose="020F0502020204030204" pitchFamily="34" charset="-122"/>
                <a:cs typeface="Calibri" panose="020F0502020204030204" pitchFamily="34" charset="-120"/>
              </a:rPr>
              <a:t>MICROSOFT EXCEL DASHBOARD PROJECT</a:t>
            </a:r>
            <a:endParaRPr lang="en-US" sz="1400" dirty="0"/>
          </a:p>
        </p:txBody>
      </p:sp>
      <p:sp>
        <p:nvSpPr>
          <p:cNvPr id="10" name="Text 6"/>
          <p:cNvSpPr/>
          <p:nvPr/>
        </p:nvSpPr>
        <p:spPr>
          <a:xfrm>
            <a:off x="777240" y="2377440"/>
            <a:ext cx="9601200" cy="868680"/>
          </a:xfrm>
          <a:prstGeom prst="rect">
            <a:avLst/>
          </a:prstGeom>
          <a:noFill/>
        </p:spPr>
        <p:txBody>
          <a:bodyPr wrap="square" lIns="0" tIns="0" rIns="0" bIns="0" rtlCol="0" anchor="ctr"/>
          <a:lstStyle/>
          <a:p>
            <a:pPr marL="0" indent="0">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Plant Sales &amp; Pricing</a:t>
            </a:r>
            <a:endParaRPr lang="en-US" sz="4600" dirty="0"/>
          </a:p>
        </p:txBody>
      </p:sp>
      <p:sp>
        <p:nvSpPr>
          <p:cNvPr id="11" name="Text 7"/>
          <p:cNvSpPr/>
          <p:nvPr/>
        </p:nvSpPr>
        <p:spPr>
          <a:xfrm>
            <a:off x="777240" y="3108960"/>
            <a:ext cx="9601200" cy="868680"/>
          </a:xfrm>
          <a:prstGeom prst="rect">
            <a:avLst/>
          </a:prstGeom>
          <a:noFill/>
        </p:spPr>
        <p:txBody>
          <a:bodyPr wrap="square" lIns="0" tIns="0" rIns="0" bIns="0" rtlCol="0" anchor="ctr"/>
          <a:lstStyle/>
          <a:p>
            <a:pPr marL="0" indent="0">
              <a:buNone/>
            </a:pPr>
            <a:r>
              <a:rPr lang="en-US" sz="4600" b="1" dirty="0">
                <a:solidFill>
                  <a:srgbClr val="8FBF6B"/>
                </a:solidFill>
                <a:latin typeface="Cambria" panose="02040503050406030204" pitchFamily="34" charset="0"/>
                <a:ea typeface="Cambria" panose="02040503050406030204" pitchFamily="34" charset="-122"/>
                <a:cs typeface="Cambria" panose="02040503050406030204" pitchFamily="34" charset="-120"/>
              </a:rPr>
              <a:t>Analytics Dashboard</a:t>
            </a:r>
            <a:endParaRPr lang="en-US" sz="4600" dirty="0"/>
          </a:p>
        </p:txBody>
      </p:sp>
      <p:sp>
        <p:nvSpPr>
          <p:cNvPr id="12" name="Text 8"/>
          <p:cNvSpPr/>
          <p:nvPr/>
        </p:nvSpPr>
        <p:spPr>
          <a:xfrm>
            <a:off x="822960" y="3977640"/>
            <a:ext cx="8686800" cy="457200"/>
          </a:xfrm>
          <a:prstGeom prst="rect">
            <a:avLst/>
          </a:prstGeom>
          <a:noFill/>
        </p:spPr>
        <p:txBody>
          <a:bodyPr wrap="square" lIns="0" tIns="0" rIns="0" bIns="0" rtlCol="0" anchor="ctr"/>
          <a:lstStyle/>
          <a:p>
            <a:pPr marL="0" indent="0">
              <a:buNone/>
            </a:pPr>
            <a:r>
              <a:rPr lang="en-US" sz="1600" i="1" dirty="0">
                <a:solidFill>
                  <a:srgbClr val="FFFFFF"/>
                </a:solidFill>
                <a:latin typeface="Calibri" panose="020F0502020204030204" pitchFamily="34" charset="0"/>
                <a:ea typeface="Calibri" panose="020F0502020204030204" pitchFamily="34" charset="-122"/>
                <a:cs typeface="Calibri" panose="020F0502020204030204" pitchFamily="34" charset="-120"/>
              </a:rPr>
              <a:t>Interactive Business Intelligence Dashboard for Plant Product Analysis</a:t>
            </a:r>
            <a:endParaRPr lang="en-US" sz="1600" dirty="0"/>
          </a:p>
        </p:txBody>
      </p:sp>
      <p:sp>
        <p:nvSpPr>
          <p:cNvPr id="13" name="Shape 9"/>
          <p:cNvSpPr/>
          <p:nvPr/>
        </p:nvSpPr>
        <p:spPr>
          <a:xfrm>
            <a:off x="822960" y="4709160"/>
            <a:ext cx="2926080" cy="0"/>
          </a:xfrm>
          <a:prstGeom prst="line">
            <a:avLst/>
          </a:prstGeom>
          <a:noFill/>
          <a:ln w="19050">
            <a:solidFill>
              <a:srgbClr val="4C7A3F"/>
            </a:solidFill>
            <a:prstDash val="solid"/>
          </a:ln>
        </p:spPr>
      </p:sp>
      <p:sp>
        <p:nvSpPr>
          <p:cNvPr id="14" name="Text 10"/>
          <p:cNvSpPr/>
          <p:nvPr/>
        </p:nvSpPr>
        <p:spPr>
          <a:xfrm>
            <a:off x="822960" y="4892040"/>
            <a:ext cx="5486400" cy="320040"/>
          </a:xfrm>
          <a:prstGeom prst="rect">
            <a:avLst/>
          </a:prstGeom>
          <a:noFill/>
        </p:spPr>
        <p:txBody>
          <a:bodyPr wrap="square" lIns="0" tIns="0" rIns="0" bIns="0" rtlCol="0" anchor="ctr"/>
          <a:lstStyle/>
          <a:p>
            <a:pPr marL="0" indent="0">
              <a:buNone/>
            </a:pPr>
            <a:r>
              <a:rPr lang="en-US" sz="1400" b="1" dirty="0">
                <a:solidFill>
                  <a:srgbClr val="8FBF6B"/>
                </a:solidFill>
                <a:latin typeface="Calibri" panose="020F0502020204030204" pitchFamily="34" charset="0"/>
                <a:ea typeface="Calibri" panose="020F0502020204030204" pitchFamily="34" charset="-122"/>
                <a:cs typeface="Calibri" panose="020F0502020204030204" pitchFamily="34" charset="-120"/>
              </a:rPr>
              <a:t>Prepared by: </a:t>
            </a:r>
            <a:r>
              <a:rPr lang="en-IN" altLang="en-US" sz="1400" b="1" dirty="0">
                <a:solidFill>
                  <a:srgbClr val="8FBF6B"/>
                </a:solidFill>
                <a:latin typeface="Calibri" panose="020F0502020204030204" pitchFamily="34" charset="0"/>
                <a:ea typeface="Calibri" panose="020F0502020204030204" pitchFamily="34" charset="-122"/>
                <a:cs typeface="Calibri" panose="020F0502020204030204" pitchFamily="34" charset="-120"/>
              </a:rPr>
              <a:t>ABHIJEET VIJAYVARGIYA</a:t>
            </a:r>
            <a:endParaRPr lang="en-IN" altLang="en-US" sz="1400" b="1" dirty="0">
              <a:solidFill>
                <a:srgbClr val="8FBF6B"/>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1"/>
          <p:cNvSpPr/>
          <p:nvPr/>
        </p:nvSpPr>
        <p:spPr>
          <a:xfrm>
            <a:off x="822960" y="5230368"/>
            <a:ext cx="5486400" cy="320040"/>
          </a:xfrm>
          <a:prstGeom prst="rect">
            <a:avLst/>
          </a:prstGeom>
          <a:noFill/>
        </p:spPr>
        <p:txBody>
          <a:bodyPr wrap="square" lIns="0" tIns="0" rIns="0" bIns="0" rtlCol="0" anchor="ctr"/>
          <a:lstStyle/>
          <a:p>
            <a:pPr marL="0" indent="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Project Overview</a:t>
            </a:r>
            <a:endParaRPr lang="en-US" sz="3200" dirty="0"/>
          </a:p>
        </p:txBody>
      </p:sp>
      <p:sp>
        <p:nvSpPr>
          <p:cNvPr id="3" name="Text 1"/>
          <p:cNvSpPr/>
          <p:nvPr/>
        </p:nvSpPr>
        <p:spPr>
          <a:xfrm>
            <a:off x="640080" y="1417320"/>
            <a:ext cx="6309360" cy="2743200"/>
          </a:xfrm>
          <a:prstGeom prst="rect">
            <a:avLst/>
          </a:prstGeom>
          <a:noFill/>
        </p:spPr>
        <p:txBody>
          <a:bodyPr wrap="square" lIns="0" tIns="0" rIns="0" bIns="0" rtlCol="0" anchor="ctr"/>
          <a:lstStyle/>
          <a:p>
            <a:pPr marL="0" indent="0">
              <a:lnSpc>
                <a:spcPct val="125000"/>
              </a:lnSpc>
              <a:buNone/>
            </a:pPr>
            <a:r>
              <a:rPr lang="en-US" sz="1550" dirty="0">
                <a:solidFill>
                  <a:srgbClr val="1E2B1E"/>
                </a:solidFill>
                <a:latin typeface="Calibri" panose="020F0502020204030204" pitchFamily="34" charset="0"/>
                <a:ea typeface="Calibri" panose="020F0502020204030204" pitchFamily="34" charset="-122"/>
                <a:cs typeface="Calibri" panose="020F0502020204030204" pitchFamily="34" charset="-120"/>
              </a:rPr>
              <a:t>The Plant Sales &amp; Pricing Analytics Dashboard is an interactive Microsoft Excel dashboard developed to analyze plant product information from multiple business perspectives. It helps understand pricing strategies, discounts, customer ratings, plant categories, brands, sizes, and product availability — transforming raw product data into meaningful visual insights that support better business decisions.</a:t>
            </a:r>
            <a:endParaRPr lang="en-US" sz="1550" dirty="0"/>
          </a:p>
        </p:txBody>
      </p:sp>
      <p:sp>
        <p:nvSpPr>
          <p:cNvPr id="4" name="Shape 2"/>
          <p:cNvSpPr/>
          <p:nvPr/>
        </p:nvSpPr>
        <p:spPr>
          <a:xfrm>
            <a:off x="640080" y="4434840"/>
            <a:ext cx="1481328" cy="868680"/>
          </a:xfrm>
          <a:prstGeom prst="roundRect">
            <a:avLst>
              <a:gd name="adj" fmla="val 9474"/>
            </a:avLst>
          </a:prstGeom>
          <a:solidFill>
            <a:srgbClr val="EAF3E7"/>
          </a:solidFill>
        </p:spPr>
      </p:sp>
      <p:pic>
        <p:nvPicPr>
          <p:cNvPr id="5" name="Image 0" descr="preencoded.png"/>
          <p:cNvPicPr>
            <a:picLocks noChangeAspect="1"/>
          </p:cNvPicPr>
          <p:nvPr/>
        </p:nvPicPr>
        <p:blipFill>
          <a:blip r:embed="rId1"/>
          <a:stretch>
            <a:fillRect/>
          </a:stretch>
        </p:blipFill>
        <p:spPr>
          <a:xfrm>
            <a:off x="1207008" y="4553712"/>
            <a:ext cx="347472" cy="347472"/>
          </a:xfrm>
          <a:prstGeom prst="rect">
            <a:avLst/>
          </a:prstGeom>
        </p:spPr>
      </p:pic>
      <p:sp>
        <p:nvSpPr>
          <p:cNvPr id="6" name="Text 3"/>
          <p:cNvSpPr/>
          <p:nvPr/>
        </p:nvSpPr>
        <p:spPr>
          <a:xfrm>
            <a:off x="640080" y="4956048"/>
            <a:ext cx="1481328" cy="274320"/>
          </a:xfrm>
          <a:prstGeom prst="rect">
            <a:avLst/>
          </a:prstGeom>
          <a:noFill/>
        </p:spPr>
        <p:txBody>
          <a:bodyPr wrap="square" lIns="0" tIns="0" rIns="0" bIns="0" rtlCol="0" anchor="ctr"/>
          <a:lstStyle/>
          <a:p>
            <a:pPr marL="0" indent="0" algn="ctr">
              <a:buNone/>
            </a:pPr>
            <a:r>
              <a:rPr lang="en-US" sz="1100" b="1" dirty="0">
                <a:solidFill>
                  <a:srgbClr val="1F4A24"/>
                </a:solidFill>
                <a:latin typeface="Calibri" panose="020F0502020204030204" pitchFamily="34" charset="0"/>
                <a:ea typeface="Calibri" panose="020F0502020204030204" pitchFamily="34" charset="-122"/>
                <a:cs typeface="Calibri" panose="020F0502020204030204" pitchFamily="34" charset="-120"/>
              </a:rPr>
              <a:t>Pricing</a:t>
            </a:r>
            <a:endParaRPr lang="en-US" sz="1100" dirty="0"/>
          </a:p>
        </p:txBody>
      </p:sp>
      <p:sp>
        <p:nvSpPr>
          <p:cNvPr id="7" name="Shape 4"/>
          <p:cNvSpPr/>
          <p:nvPr/>
        </p:nvSpPr>
        <p:spPr>
          <a:xfrm>
            <a:off x="2331720" y="4434840"/>
            <a:ext cx="1481328" cy="868680"/>
          </a:xfrm>
          <a:prstGeom prst="roundRect">
            <a:avLst>
              <a:gd name="adj" fmla="val 9474"/>
            </a:avLst>
          </a:prstGeom>
          <a:solidFill>
            <a:srgbClr val="EAF3E7"/>
          </a:solidFill>
        </p:spPr>
      </p:sp>
      <p:pic>
        <p:nvPicPr>
          <p:cNvPr id="8" name="Image 1" descr="preencoded.png"/>
          <p:cNvPicPr>
            <a:picLocks noChangeAspect="1"/>
          </p:cNvPicPr>
          <p:nvPr/>
        </p:nvPicPr>
        <p:blipFill>
          <a:blip r:embed="rId2"/>
          <a:stretch>
            <a:fillRect/>
          </a:stretch>
        </p:blipFill>
        <p:spPr>
          <a:xfrm>
            <a:off x="2898648" y="4553712"/>
            <a:ext cx="347472" cy="347472"/>
          </a:xfrm>
          <a:prstGeom prst="rect">
            <a:avLst/>
          </a:prstGeom>
        </p:spPr>
      </p:pic>
      <p:sp>
        <p:nvSpPr>
          <p:cNvPr id="9" name="Text 5"/>
          <p:cNvSpPr/>
          <p:nvPr/>
        </p:nvSpPr>
        <p:spPr>
          <a:xfrm>
            <a:off x="2331720" y="4956048"/>
            <a:ext cx="1481328" cy="274320"/>
          </a:xfrm>
          <a:prstGeom prst="rect">
            <a:avLst/>
          </a:prstGeom>
          <a:noFill/>
        </p:spPr>
        <p:txBody>
          <a:bodyPr wrap="square" lIns="0" tIns="0" rIns="0" bIns="0" rtlCol="0" anchor="ctr"/>
          <a:lstStyle/>
          <a:p>
            <a:pPr marL="0" indent="0" algn="ctr">
              <a:buNone/>
            </a:pPr>
            <a:r>
              <a:rPr lang="en-US" sz="1100" b="1" dirty="0">
                <a:solidFill>
                  <a:srgbClr val="1F4A24"/>
                </a:solidFill>
                <a:latin typeface="Calibri" panose="020F0502020204030204" pitchFamily="34" charset="0"/>
                <a:ea typeface="Calibri" panose="020F0502020204030204" pitchFamily="34" charset="-122"/>
                <a:cs typeface="Calibri" panose="020F0502020204030204" pitchFamily="34" charset="-120"/>
              </a:rPr>
              <a:t>Discounts</a:t>
            </a:r>
            <a:endParaRPr lang="en-US" sz="1100" dirty="0"/>
          </a:p>
        </p:txBody>
      </p:sp>
      <p:sp>
        <p:nvSpPr>
          <p:cNvPr id="10" name="Shape 6"/>
          <p:cNvSpPr/>
          <p:nvPr/>
        </p:nvSpPr>
        <p:spPr>
          <a:xfrm>
            <a:off x="4023360" y="4434840"/>
            <a:ext cx="1481328" cy="868680"/>
          </a:xfrm>
          <a:prstGeom prst="roundRect">
            <a:avLst>
              <a:gd name="adj" fmla="val 9474"/>
            </a:avLst>
          </a:prstGeom>
          <a:solidFill>
            <a:srgbClr val="EAF3E7"/>
          </a:solidFill>
        </p:spPr>
      </p:sp>
      <p:pic>
        <p:nvPicPr>
          <p:cNvPr id="11" name="Image 2" descr="preencoded.png"/>
          <p:cNvPicPr>
            <a:picLocks noChangeAspect="1"/>
          </p:cNvPicPr>
          <p:nvPr/>
        </p:nvPicPr>
        <p:blipFill>
          <a:blip r:embed="rId3"/>
          <a:stretch>
            <a:fillRect/>
          </a:stretch>
        </p:blipFill>
        <p:spPr>
          <a:xfrm>
            <a:off x="4590288" y="4553712"/>
            <a:ext cx="347472" cy="347472"/>
          </a:xfrm>
          <a:prstGeom prst="rect">
            <a:avLst/>
          </a:prstGeom>
        </p:spPr>
      </p:pic>
      <p:sp>
        <p:nvSpPr>
          <p:cNvPr id="12" name="Text 7"/>
          <p:cNvSpPr/>
          <p:nvPr/>
        </p:nvSpPr>
        <p:spPr>
          <a:xfrm>
            <a:off x="4023360" y="4956048"/>
            <a:ext cx="1481328" cy="274320"/>
          </a:xfrm>
          <a:prstGeom prst="rect">
            <a:avLst/>
          </a:prstGeom>
          <a:noFill/>
        </p:spPr>
        <p:txBody>
          <a:bodyPr wrap="square" lIns="0" tIns="0" rIns="0" bIns="0" rtlCol="0" anchor="ctr"/>
          <a:lstStyle/>
          <a:p>
            <a:pPr marL="0" indent="0" algn="ctr">
              <a:buNone/>
            </a:pPr>
            <a:r>
              <a:rPr lang="en-US" sz="1100" b="1" dirty="0">
                <a:solidFill>
                  <a:srgbClr val="1F4A24"/>
                </a:solidFill>
                <a:latin typeface="Calibri" panose="020F0502020204030204" pitchFamily="34" charset="0"/>
                <a:ea typeface="Calibri" panose="020F0502020204030204" pitchFamily="34" charset="-122"/>
                <a:cs typeface="Calibri" panose="020F0502020204030204" pitchFamily="34" charset="-120"/>
              </a:rPr>
              <a:t>Ratings</a:t>
            </a:r>
            <a:endParaRPr lang="en-US" sz="1100" dirty="0"/>
          </a:p>
        </p:txBody>
      </p:sp>
      <p:sp>
        <p:nvSpPr>
          <p:cNvPr id="13" name="Shape 8"/>
          <p:cNvSpPr/>
          <p:nvPr/>
        </p:nvSpPr>
        <p:spPr>
          <a:xfrm>
            <a:off x="5715000" y="4434840"/>
            <a:ext cx="1481328" cy="868680"/>
          </a:xfrm>
          <a:prstGeom prst="roundRect">
            <a:avLst>
              <a:gd name="adj" fmla="val 9474"/>
            </a:avLst>
          </a:prstGeom>
          <a:solidFill>
            <a:srgbClr val="EAF3E7"/>
          </a:solidFill>
        </p:spPr>
      </p:sp>
      <p:pic>
        <p:nvPicPr>
          <p:cNvPr id="14" name="Image 3" descr="preencoded.png"/>
          <p:cNvPicPr>
            <a:picLocks noChangeAspect="1"/>
          </p:cNvPicPr>
          <p:nvPr/>
        </p:nvPicPr>
        <p:blipFill>
          <a:blip r:embed="rId4"/>
          <a:stretch>
            <a:fillRect/>
          </a:stretch>
        </p:blipFill>
        <p:spPr>
          <a:xfrm>
            <a:off x="6281928" y="4553712"/>
            <a:ext cx="347472" cy="347472"/>
          </a:xfrm>
          <a:prstGeom prst="rect">
            <a:avLst/>
          </a:prstGeom>
        </p:spPr>
      </p:pic>
      <p:sp>
        <p:nvSpPr>
          <p:cNvPr id="15" name="Text 9"/>
          <p:cNvSpPr/>
          <p:nvPr/>
        </p:nvSpPr>
        <p:spPr>
          <a:xfrm>
            <a:off x="5715000" y="4956048"/>
            <a:ext cx="1481328" cy="274320"/>
          </a:xfrm>
          <a:prstGeom prst="rect">
            <a:avLst/>
          </a:prstGeom>
          <a:noFill/>
        </p:spPr>
        <p:txBody>
          <a:bodyPr wrap="square" lIns="0" tIns="0" rIns="0" bIns="0" rtlCol="0" anchor="ctr"/>
          <a:lstStyle/>
          <a:p>
            <a:pPr marL="0" indent="0" algn="ctr">
              <a:buNone/>
            </a:pPr>
            <a:r>
              <a:rPr lang="en-US" sz="1100" b="1" dirty="0">
                <a:solidFill>
                  <a:srgbClr val="1F4A24"/>
                </a:solidFill>
                <a:latin typeface="Calibri" panose="020F0502020204030204" pitchFamily="34" charset="0"/>
                <a:ea typeface="Calibri" panose="020F0502020204030204" pitchFamily="34" charset="-122"/>
                <a:cs typeface="Calibri" panose="020F0502020204030204" pitchFamily="34" charset="-120"/>
              </a:rPr>
              <a:t>Categories</a:t>
            </a:r>
            <a:endParaRPr lang="en-US" sz="1100" dirty="0"/>
          </a:p>
        </p:txBody>
      </p:sp>
      <p:sp>
        <p:nvSpPr>
          <p:cNvPr id="16" name="Shape 10"/>
          <p:cNvSpPr/>
          <p:nvPr/>
        </p:nvSpPr>
        <p:spPr>
          <a:xfrm>
            <a:off x="7909560" y="1783080"/>
            <a:ext cx="3017520" cy="3017520"/>
          </a:xfrm>
          <a:prstGeom prst="ellipse">
            <a:avLst/>
          </a:prstGeom>
          <a:solidFill>
            <a:srgbClr val="EAF3E7"/>
          </a:solidFill>
        </p:spPr>
      </p:sp>
      <p:sp>
        <p:nvSpPr>
          <p:cNvPr id="17" name="Shape 11"/>
          <p:cNvSpPr/>
          <p:nvPr/>
        </p:nvSpPr>
        <p:spPr>
          <a:xfrm>
            <a:off x="8641080" y="2514600"/>
            <a:ext cx="1554480" cy="1554480"/>
          </a:xfrm>
          <a:prstGeom prst="ellipse">
            <a:avLst/>
          </a:prstGeom>
          <a:solidFill>
            <a:srgbClr val="1F4A24"/>
          </a:solidFill>
        </p:spPr>
      </p:sp>
      <p:pic>
        <p:nvPicPr>
          <p:cNvPr id="18" name="Image 4" descr="preencoded.png"/>
          <p:cNvPicPr>
            <a:picLocks noChangeAspect="1"/>
          </p:cNvPicPr>
          <p:nvPr/>
        </p:nvPicPr>
        <p:blipFill>
          <a:blip r:embed="rId5"/>
          <a:stretch>
            <a:fillRect/>
          </a:stretch>
        </p:blipFill>
        <p:spPr>
          <a:xfrm>
            <a:off x="9029700" y="2903220"/>
            <a:ext cx="777240" cy="777240"/>
          </a:xfrm>
          <a:prstGeom prst="rect">
            <a:avLst/>
          </a:prstGeom>
        </p:spPr>
      </p:pic>
      <p:sp>
        <p:nvSpPr>
          <p:cNvPr id="19" name="Shape 12"/>
          <p:cNvSpPr/>
          <p:nvPr/>
        </p:nvSpPr>
        <p:spPr>
          <a:xfrm>
            <a:off x="10378440" y="1417320"/>
            <a:ext cx="822960" cy="822960"/>
          </a:xfrm>
          <a:prstGeom prst="ellipse">
            <a:avLst/>
          </a:prstGeom>
          <a:solidFill>
            <a:srgbClr val="4C7A3F"/>
          </a:solidFill>
        </p:spPr>
      </p:sp>
      <p:pic>
        <p:nvPicPr>
          <p:cNvPr id="20" name="Image 5" descr="preencoded.png"/>
          <p:cNvPicPr>
            <a:picLocks noChangeAspect="1"/>
          </p:cNvPicPr>
          <p:nvPr/>
        </p:nvPicPr>
        <p:blipFill>
          <a:blip r:embed="rId6"/>
          <a:stretch>
            <a:fillRect/>
          </a:stretch>
        </p:blipFill>
        <p:spPr>
          <a:xfrm>
            <a:off x="10563606" y="1602486"/>
            <a:ext cx="452628" cy="452628"/>
          </a:xfrm>
          <a:prstGeom prst="rect">
            <a:avLst/>
          </a:prstGeom>
        </p:spPr>
      </p:pic>
      <p:sp>
        <p:nvSpPr>
          <p:cNvPr id="21" name="Shape 13"/>
          <p:cNvSpPr/>
          <p:nvPr/>
        </p:nvSpPr>
        <p:spPr>
          <a:xfrm>
            <a:off x="7269480" y="4206240"/>
            <a:ext cx="822960" cy="822960"/>
          </a:xfrm>
          <a:prstGeom prst="ellipse">
            <a:avLst/>
          </a:prstGeom>
          <a:solidFill>
            <a:srgbClr val="4C7A3F"/>
          </a:solidFill>
        </p:spPr>
      </p:sp>
      <p:pic>
        <p:nvPicPr>
          <p:cNvPr id="22" name="Image 6" descr="preencoded.png"/>
          <p:cNvPicPr>
            <a:picLocks noChangeAspect="1"/>
          </p:cNvPicPr>
          <p:nvPr/>
        </p:nvPicPr>
        <p:blipFill>
          <a:blip r:embed="rId7"/>
          <a:stretch>
            <a:fillRect/>
          </a:stretch>
        </p:blipFill>
        <p:spPr>
          <a:xfrm>
            <a:off x="7454646" y="4391406"/>
            <a:ext cx="452628" cy="452628"/>
          </a:xfrm>
          <a:prstGeom prst="rect">
            <a:avLst/>
          </a:prstGeom>
        </p:spPr>
      </p:pic>
      <p:sp>
        <p:nvSpPr>
          <p:cNvPr id="23" name="Shape 14"/>
          <p:cNvSpPr/>
          <p:nvPr/>
        </p:nvSpPr>
        <p:spPr>
          <a:xfrm>
            <a:off x="7406640" y="1554480"/>
            <a:ext cx="685800" cy="685800"/>
          </a:xfrm>
          <a:prstGeom prst="ellipse">
            <a:avLst/>
          </a:prstGeom>
          <a:solidFill>
            <a:srgbClr val="8FBF6B"/>
          </a:solidFill>
        </p:spPr>
      </p:sp>
      <p:pic>
        <p:nvPicPr>
          <p:cNvPr id="24" name="Image 7" descr="preencoded.png"/>
          <p:cNvPicPr>
            <a:picLocks noChangeAspect="1"/>
          </p:cNvPicPr>
          <p:nvPr/>
        </p:nvPicPr>
        <p:blipFill>
          <a:blip r:embed="rId8"/>
          <a:stretch>
            <a:fillRect/>
          </a:stretch>
        </p:blipFill>
        <p:spPr>
          <a:xfrm>
            <a:off x="7560945" y="1708785"/>
            <a:ext cx="377190" cy="377190"/>
          </a:xfrm>
          <a:prstGeom prst="rect">
            <a:avLst/>
          </a:prstGeom>
        </p:spPr>
      </p:pic>
      <p:sp>
        <p:nvSpPr>
          <p:cNvPr id="25" name="Shape 15"/>
          <p:cNvSpPr/>
          <p:nvPr/>
        </p:nvSpPr>
        <p:spPr>
          <a:xfrm>
            <a:off x="10652760" y="4343400"/>
            <a:ext cx="685800" cy="685800"/>
          </a:xfrm>
          <a:prstGeom prst="ellipse">
            <a:avLst/>
          </a:prstGeom>
          <a:solidFill>
            <a:srgbClr val="8FBF6B"/>
          </a:solidFill>
        </p:spPr>
      </p:sp>
      <p:pic>
        <p:nvPicPr>
          <p:cNvPr id="26" name="Image 8" descr="preencoded.png"/>
          <p:cNvPicPr>
            <a:picLocks noChangeAspect="1"/>
          </p:cNvPicPr>
          <p:nvPr/>
        </p:nvPicPr>
        <p:blipFill>
          <a:blip r:embed="rId9"/>
          <a:stretch>
            <a:fillRect/>
          </a:stretch>
        </p:blipFill>
        <p:spPr>
          <a:xfrm>
            <a:off x="10807065" y="4497705"/>
            <a:ext cx="377190" cy="3771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3E7"/>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Project Objectives</a:t>
            </a:r>
            <a:endParaRPr lang="en-US" sz="3200" dirty="0"/>
          </a:p>
        </p:txBody>
      </p:sp>
      <p:sp>
        <p:nvSpPr>
          <p:cNvPr id="3" name="Shape 1"/>
          <p:cNvSpPr/>
          <p:nvPr/>
        </p:nvSpPr>
        <p:spPr>
          <a:xfrm>
            <a:off x="640080" y="1325880"/>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4" name="Shape 2"/>
          <p:cNvSpPr/>
          <p:nvPr/>
        </p:nvSpPr>
        <p:spPr>
          <a:xfrm>
            <a:off x="1349014" y="1581912"/>
            <a:ext cx="603504" cy="603504"/>
          </a:xfrm>
          <a:prstGeom prst="ellipse">
            <a:avLst/>
          </a:prstGeom>
          <a:solidFill>
            <a:srgbClr val="1F4A24"/>
          </a:solidFill>
        </p:spPr>
      </p:sp>
      <p:pic>
        <p:nvPicPr>
          <p:cNvPr id="5" name="Image 0" descr="preencoded.png"/>
          <p:cNvPicPr>
            <a:picLocks noChangeAspect="1"/>
          </p:cNvPicPr>
          <p:nvPr/>
        </p:nvPicPr>
        <p:blipFill>
          <a:blip r:embed="rId1"/>
          <a:stretch>
            <a:fillRect/>
          </a:stretch>
        </p:blipFill>
        <p:spPr>
          <a:xfrm>
            <a:off x="1493855" y="1726753"/>
            <a:ext cx="313822" cy="313822"/>
          </a:xfrm>
          <a:prstGeom prst="rect">
            <a:avLst/>
          </a:prstGeom>
        </p:spPr>
      </p:pic>
      <p:sp>
        <p:nvSpPr>
          <p:cNvPr id="6" name="Text 3"/>
          <p:cNvSpPr/>
          <p:nvPr/>
        </p:nvSpPr>
        <p:spPr>
          <a:xfrm>
            <a:off x="749808" y="2313432"/>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Analyze plant pricing trends</a:t>
            </a:r>
            <a:endParaRPr lang="en-US" sz="1150" dirty="0"/>
          </a:p>
        </p:txBody>
      </p:sp>
      <p:sp>
        <p:nvSpPr>
          <p:cNvPr id="7" name="Shape 4"/>
          <p:cNvSpPr/>
          <p:nvPr/>
        </p:nvSpPr>
        <p:spPr>
          <a:xfrm>
            <a:off x="2862621" y="1325880"/>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8" name="Shape 5"/>
          <p:cNvSpPr/>
          <p:nvPr/>
        </p:nvSpPr>
        <p:spPr>
          <a:xfrm>
            <a:off x="3571555" y="1581912"/>
            <a:ext cx="603504" cy="603504"/>
          </a:xfrm>
          <a:prstGeom prst="ellipse">
            <a:avLst/>
          </a:prstGeom>
          <a:solidFill>
            <a:srgbClr val="1F4A24"/>
          </a:solidFill>
        </p:spPr>
      </p:sp>
      <p:pic>
        <p:nvPicPr>
          <p:cNvPr id="9" name="Image 1" descr="preencoded.png"/>
          <p:cNvPicPr>
            <a:picLocks noChangeAspect="1"/>
          </p:cNvPicPr>
          <p:nvPr/>
        </p:nvPicPr>
        <p:blipFill>
          <a:blip r:embed="rId2"/>
          <a:stretch>
            <a:fillRect/>
          </a:stretch>
        </p:blipFill>
        <p:spPr>
          <a:xfrm>
            <a:off x="3716396" y="1726753"/>
            <a:ext cx="313822" cy="313822"/>
          </a:xfrm>
          <a:prstGeom prst="rect">
            <a:avLst/>
          </a:prstGeom>
        </p:spPr>
      </p:pic>
      <p:sp>
        <p:nvSpPr>
          <p:cNvPr id="10" name="Text 6"/>
          <p:cNvSpPr/>
          <p:nvPr/>
        </p:nvSpPr>
        <p:spPr>
          <a:xfrm>
            <a:off x="2972349" y="2313432"/>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Compare Original vs Special Price</a:t>
            </a:r>
            <a:endParaRPr lang="en-US" sz="1150" dirty="0"/>
          </a:p>
        </p:txBody>
      </p:sp>
      <p:sp>
        <p:nvSpPr>
          <p:cNvPr id="11" name="Shape 7"/>
          <p:cNvSpPr/>
          <p:nvPr/>
        </p:nvSpPr>
        <p:spPr>
          <a:xfrm>
            <a:off x="5085161" y="1325880"/>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12" name="Shape 8"/>
          <p:cNvSpPr/>
          <p:nvPr/>
        </p:nvSpPr>
        <p:spPr>
          <a:xfrm>
            <a:off x="5794096" y="1581912"/>
            <a:ext cx="603504" cy="603504"/>
          </a:xfrm>
          <a:prstGeom prst="ellipse">
            <a:avLst/>
          </a:prstGeom>
          <a:solidFill>
            <a:srgbClr val="1F4A24"/>
          </a:solidFill>
        </p:spPr>
      </p:sp>
      <p:pic>
        <p:nvPicPr>
          <p:cNvPr id="13" name="Image 2" descr="preencoded.png"/>
          <p:cNvPicPr>
            <a:picLocks noChangeAspect="1"/>
          </p:cNvPicPr>
          <p:nvPr/>
        </p:nvPicPr>
        <p:blipFill>
          <a:blip r:embed="rId3"/>
          <a:stretch>
            <a:fillRect/>
          </a:stretch>
        </p:blipFill>
        <p:spPr>
          <a:xfrm>
            <a:off x="5938937" y="1726753"/>
            <a:ext cx="313822" cy="313822"/>
          </a:xfrm>
          <a:prstGeom prst="rect">
            <a:avLst/>
          </a:prstGeom>
        </p:spPr>
      </p:pic>
      <p:sp>
        <p:nvSpPr>
          <p:cNvPr id="14" name="Text 9"/>
          <p:cNvSpPr/>
          <p:nvPr/>
        </p:nvSpPr>
        <p:spPr>
          <a:xfrm>
            <a:off x="5194889" y="2313432"/>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Monitor product discounts</a:t>
            </a:r>
            <a:endParaRPr lang="en-US" sz="1150" dirty="0"/>
          </a:p>
        </p:txBody>
      </p:sp>
      <p:sp>
        <p:nvSpPr>
          <p:cNvPr id="15" name="Shape 10"/>
          <p:cNvSpPr/>
          <p:nvPr/>
        </p:nvSpPr>
        <p:spPr>
          <a:xfrm>
            <a:off x="7307702" y="1325880"/>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16" name="Shape 11"/>
          <p:cNvSpPr/>
          <p:nvPr/>
        </p:nvSpPr>
        <p:spPr>
          <a:xfrm>
            <a:off x="8016636" y="1581912"/>
            <a:ext cx="603504" cy="603504"/>
          </a:xfrm>
          <a:prstGeom prst="ellipse">
            <a:avLst/>
          </a:prstGeom>
          <a:solidFill>
            <a:srgbClr val="1F4A24"/>
          </a:solidFill>
        </p:spPr>
      </p:sp>
      <p:pic>
        <p:nvPicPr>
          <p:cNvPr id="17" name="Image 3" descr="preencoded.png"/>
          <p:cNvPicPr>
            <a:picLocks noChangeAspect="1"/>
          </p:cNvPicPr>
          <p:nvPr/>
        </p:nvPicPr>
        <p:blipFill>
          <a:blip r:embed="rId4"/>
          <a:stretch>
            <a:fillRect/>
          </a:stretch>
        </p:blipFill>
        <p:spPr>
          <a:xfrm>
            <a:off x="8161477" y="1726753"/>
            <a:ext cx="313822" cy="313822"/>
          </a:xfrm>
          <a:prstGeom prst="rect">
            <a:avLst/>
          </a:prstGeom>
        </p:spPr>
      </p:pic>
      <p:sp>
        <p:nvSpPr>
          <p:cNvPr id="18" name="Text 12"/>
          <p:cNvSpPr/>
          <p:nvPr/>
        </p:nvSpPr>
        <p:spPr>
          <a:xfrm>
            <a:off x="7417430" y="2313432"/>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Evaluate customer ratings</a:t>
            </a:r>
            <a:endParaRPr lang="en-US" sz="1150" dirty="0"/>
          </a:p>
        </p:txBody>
      </p:sp>
      <p:sp>
        <p:nvSpPr>
          <p:cNvPr id="19" name="Shape 13"/>
          <p:cNvSpPr/>
          <p:nvPr/>
        </p:nvSpPr>
        <p:spPr>
          <a:xfrm>
            <a:off x="9530243" y="1325880"/>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20" name="Shape 14"/>
          <p:cNvSpPr/>
          <p:nvPr/>
        </p:nvSpPr>
        <p:spPr>
          <a:xfrm>
            <a:off x="10239177" y="1581912"/>
            <a:ext cx="603504" cy="603504"/>
          </a:xfrm>
          <a:prstGeom prst="ellipse">
            <a:avLst/>
          </a:prstGeom>
          <a:solidFill>
            <a:srgbClr val="1F4A24"/>
          </a:solidFill>
        </p:spPr>
      </p:sp>
      <p:pic>
        <p:nvPicPr>
          <p:cNvPr id="21" name="Image 4" descr="preencoded.png"/>
          <p:cNvPicPr>
            <a:picLocks noChangeAspect="1"/>
          </p:cNvPicPr>
          <p:nvPr/>
        </p:nvPicPr>
        <p:blipFill>
          <a:blip r:embed="rId5"/>
          <a:stretch>
            <a:fillRect/>
          </a:stretch>
        </p:blipFill>
        <p:spPr>
          <a:xfrm>
            <a:off x="10384018" y="1726753"/>
            <a:ext cx="313822" cy="313822"/>
          </a:xfrm>
          <a:prstGeom prst="rect">
            <a:avLst/>
          </a:prstGeom>
        </p:spPr>
      </p:pic>
      <p:sp>
        <p:nvSpPr>
          <p:cNvPr id="22" name="Text 15"/>
          <p:cNvSpPr/>
          <p:nvPr/>
        </p:nvSpPr>
        <p:spPr>
          <a:xfrm>
            <a:off x="9639971" y="2313432"/>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Analyze plant categories</a:t>
            </a:r>
            <a:endParaRPr lang="en-US" sz="1150" dirty="0"/>
          </a:p>
        </p:txBody>
      </p:sp>
      <p:sp>
        <p:nvSpPr>
          <p:cNvPr id="23" name="Shape 16"/>
          <p:cNvSpPr/>
          <p:nvPr/>
        </p:nvSpPr>
        <p:spPr>
          <a:xfrm>
            <a:off x="640080" y="3401568"/>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24" name="Shape 17"/>
          <p:cNvSpPr/>
          <p:nvPr/>
        </p:nvSpPr>
        <p:spPr>
          <a:xfrm>
            <a:off x="1349014" y="3657600"/>
            <a:ext cx="603504" cy="603504"/>
          </a:xfrm>
          <a:prstGeom prst="ellipse">
            <a:avLst/>
          </a:prstGeom>
          <a:solidFill>
            <a:srgbClr val="1F4A24"/>
          </a:solidFill>
        </p:spPr>
      </p:sp>
      <p:pic>
        <p:nvPicPr>
          <p:cNvPr id="25" name="Image 5" descr="preencoded.png"/>
          <p:cNvPicPr>
            <a:picLocks noChangeAspect="1"/>
          </p:cNvPicPr>
          <p:nvPr/>
        </p:nvPicPr>
        <p:blipFill>
          <a:blip r:embed="rId6"/>
          <a:stretch>
            <a:fillRect/>
          </a:stretch>
        </p:blipFill>
        <p:spPr>
          <a:xfrm>
            <a:off x="1493855" y="3802441"/>
            <a:ext cx="313822" cy="313822"/>
          </a:xfrm>
          <a:prstGeom prst="rect">
            <a:avLst/>
          </a:prstGeom>
        </p:spPr>
      </p:pic>
      <p:sp>
        <p:nvSpPr>
          <p:cNvPr id="26" name="Text 18"/>
          <p:cNvSpPr/>
          <p:nvPr/>
        </p:nvSpPr>
        <p:spPr>
          <a:xfrm>
            <a:off x="749808" y="4389120"/>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Study brand-wise distribution</a:t>
            </a:r>
            <a:endParaRPr lang="en-US" sz="1150" dirty="0"/>
          </a:p>
        </p:txBody>
      </p:sp>
      <p:sp>
        <p:nvSpPr>
          <p:cNvPr id="27" name="Shape 19"/>
          <p:cNvSpPr/>
          <p:nvPr/>
        </p:nvSpPr>
        <p:spPr>
          <a:xfrm>
            <a:off x="2862621" y="3401568"/>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28" name="Shape 20"/>
          <p:cNvSpPr/>
          <p:nvPr/>
        </p:nvSpPr>
        <p:spPr>
          <a:xfrm>
            <a:off x="3571555" y="3657600"/>
            <a:ext cx="603504" cy="603504"/>
          </a:xfrm>
          <a:prstGeom prst="ellipse">
            <a:avLst/>
          </a:prstGeom>
          <a:solidFill>
            <a:srgbClr val="1F4A24"/>
          </a:solidFill>
        </p:spPr>
      </p:sp>
      <p:pic>
        <p:nvPicPr>
          <p:cNvPr id="29" name="Image 6" descr="preencoded.png"/>
          <p:cNvPicPr>
            <a:picLocks noChangeAspect="1"/>
          </p:cNvPicPr>
          <p:nvPr/>
        </p:nvPicPr>
        <p:blipFill>
          <a:blip r:embed="rId7"/>
          <a:stretch>
            <a:fillRect/>
          </a:stretch>
        </p:blipFill>
        <p:spPr>
          <a:xfrm>
            <a:off x="3716396" y="3802441"/>
            <a:ext cx="313822" cy="313822"/>
          </a:xfrm>
          <a:prstGeom prst="rect">
            <a:avLst/>
          </a:prstGeom>
        </p:spPr>
      </p:pic>
      <p:sp>
        <p:nvSpPr>
          <p:cNvPr id="30" name="Text 21"/>
          <p:cNvSpPr/>
          <p:nvPr/>
        </p:nvSpPr>
        <p:spPr>
          <a:xfrm>
            <a:off x="2972349" y="4389120"/>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Identify location-wise availability</a:t>
            </a:r>
            <a:endParaRPr lang="en-US" sz="1150" dirty="0"/>
          </a:p>
        </p:txBody>
      </p:sp>
      <p:sp>
        <p:nvSpPr>
          <p:cNvPr id="31" name="Shape 22"/>
          <p:cNvSpPr/>
          <p:nvPr/>
        </p:nvSpPr>
        <p:spPr>
          <a:xfrm>
            <a:off x="5085161" y="3401568"/>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32" name="Shape 23"/>
          <p:cNvSpPr/>
          <p:nvPr/>
        </p:nvSpPr>
        <p:spPr>
          <a:xfrm>
            <a:off x="5794096" y="3657600"/>
            <a:ext cx="603504" cy="603504"/>
          </a:xfrm>
          <a:prstGeom prst="ellipse">
            <a:avLst/>
          </a:prstGeom>
          <a:solidFill>
            <a:srgbClr val="1F4A24"/>
          </a:solidFill>
        </p:spPr>
      </p:sp>
      <p:pic>
        <p:nvPicPr>
          <p:cNvPr id="33" name="Image 7" descr="preencoded.png"/>
          <p:cNvPicPr>
            <a:picLocks noChangeAspect="1"/>
          </p:cNvPicPr>
          <p:nvPr/>
        </p:nvPicPr>
        <p:blipFill>
          <a:blip r:embed="rId8"/>
          <a:stretch>
            <a:fillRect/>
          </a:stretch>
        </p:blipFill>
        <p:spPr>
          <a:xfrm>
            <a:off x="5938937" y="3802441"/>
            <a:ext cx="313822" cy="313822"/>
          </a:xfrm>
          <a:prstGeom prst="rect">
            <a:avLst/>
          </a:prstGeom>
        </p:spPr>
      </p:pic>
      <p:sp>
        <p:nvSpPr>
          <p:cNvPr id="34" name="Text 24"/>
          <p:cNvSpPr/>
          <p:nvPr/>
        </p:nvSpPr>
        <p:spPr>
          <a:xfrm>
            <a:off x="5194889" y="4389120"/>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Understand plant sizes</a:t>
            </a:r>
            <a:endParaRPr lang="en-US" sz="1150" dirty="0"/>
          </a:p>
        </p:txBody>
      </p:sp>
      <p:sp>
        <p:nvSpPr>
          <p:cNvPr id="35" name="Shape 25"/>
          <p:cNvSpPr/>
          <p:nvPr/>
        </p:nvSpPr>
        <p:spPr>
          <a:xfrm>
            <a:off x="7307702" y="3401568"/>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36" name="Shape 26"/>
          <p:cNvSpPr/>
          <p:nvPr/>
        </p:nvSpPr>
        <p:spPr>
          <a:xfrm>
            <a:off x="8016636" y="3657600"/>
            <a:ext cx="603504" cy="603504"/>
          </a:xfrm>
          <a:prstGeom prst="ellipse">
            <a:avLst/>
          </a:prstGeom>
          <a:solidFill>
            <a:srgbClr val="1F4A24"/>
          </a:solidFill>
        </p:spPr>
      </p:sp>
      <p:pic>
        <p:nvPicPr>
          <p:cNvPr id="37" name="Image 8" descr="preencoded.png"/>
          <p:cNvPicPr>
            <a:picLocks noChangeAspect="1"/>
          </p:cNvPicPr>
          <p:nvPr/>
        </p:nvPicPr>
        <p:blipFill>
          <a:blip r:embed="rId9"/>
          <a:stretch>
            <a:fillRect/>
          </a:stretch>
        </p:blipFill>
        <p:spPr>
          <a:xfrm>
            <a:off x="8161477" y="3802441"/>
            <a:ext cx="313822" cy="313822"/>
          </a:xfrm>
          <a:prstGeom prst="rect">
            <a:avLst/>
          </a:prstGeom>
        </p:spPr>
      </p:pic>
      <p:sp>
        <p:nvSpPr>
          <p:cNvPr id="38" name="Text 27"/>
          <p:cNvSpPr/>
          <p:nvPr/>
        </p:nvSpPr>
        <p:spPr>
          <a:xfrm>
            <a:off x="7417430" y="4389120"/>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Build an interactive Excel dashboard</a:t>
            </a:r>
            <a:endParaRPr lang="en-US" sz="1150" dirty="0"/>
          </a:p>
        </p:txBody>
      </p:sp>
      <p:sp>
        <p:nvSpPr>
          <p:cNvPr id="39" name="Shape 28"/>
          <p:cNvSpPr/>
          <p:nvPr/>
        </p:nvSpPr>
        <p:spPr>
          <a:xfrm>
            <a:off x="9530243" y="3401568"/>
            <a:ext cx="2021373" cy="1874520"/>
          </a:xfrm>
          <a:prstGeom prst="roundRect">
            <a:avLst>
              <a:gd name="adj" fmla="val 4390"/>
            </a:avLst>
          </a:prstGeom>
          <a:solidFill>
            <a:srgbClr val="FFFFFF"/>
          </a:solidFill>
          <a:effectLst>
            <a:outerShdw blurRad="101600" dist="38100" dir="5400000" algn="bl" rotWithShape="0">
              <a:srgbClr val="1F4A24">
                <a:alpha val="14000"/>
              </a:srgbClr>
            </a:outerShdw>
          </a:effectLst>
        </p:spPr>
      </p:sp>
      <p:sp>
        <p:nvSpPr>
          <p:cNvPr id="40" name="Shape 29"/>
          <p:cNvSpPr/>
          <p:nvPr/>
        </p:nvSpPr>
        <p:spPr>
          <a:xfrm>
            <a:off x="10239177" y="3657600"/>
            <a:ext cx="603504" cy="603504"/>
          </a:xfrm>
          <a:prstGeom prst="ellipse">
            <a:avLst/>
          </a:prstGeom>
          <a:solidFill>
            <a:srgbClr val="1F4A24"/>
          </a:solidFill>
        </p:spPr>
      </p:sp>
      <p:pic>
        <p:nvPicPr>
          <p:cNvPr id="41" name="Image 9" descr="preencoded.png"/>
          <p:cNvPicPr>
            <a:picLocks noChangeAspect="1"/>
          </p:cNvPicPr>
          <p:nvPr/>
        </p:nvPicPr>
        <p:blipFill>
          <a:blip r:embed="rId10"/>
          <a:stretch>
            <a:fillRect/>
          </a:stretch>
        </p:blipFill>
        <p:spPr>
          <a:xfrm>
            <a:off x="10384018" y="3802441"/>
            <a:ext cx="313822" cy="313822"/>
          </a:xfrm>
          <a:prstGeom prst="rect">
            <a:avLst/>
          </a:prstGeom>
        </p:spPr>
      </p:pic>
      <p:sp>
        <p:nvSpPr>
          <p:cNvPr id="42" name="Text 30"/>
          <p:cNvSpPr/>
          <p:nvPr/>
        </p:nvSpPr>
        <p:spPr>
          <a:xfrm>
            <a:off x="9639971" y="4389120"/>
            <a:ext cx="1801917" cy="777240"/>
          </a:xfrm>
          <a:prstGeom prst="rect">
            <a:avLst/>
          </a:prstGeom>
          <a:noFill/>
        </p:spPr>
        <p:txBody>
          <a:bodyPr wrap="square" lIns="0" tIns="0" rIns="0" bIns="0" rtlCol="0" anchor="t"/>
          <a:lstStyle/>
          <a:p>
            <a:pPr marL="0" indent="0" algn="ctr">
              <a:buNone/>
            </a:pPr>
            <a:r>
              <a:rPr lang="en-US" sz="1150" b="1" dirty="0">
                <a:solidFill>
                  <a:srgbClr val="1E2B1E"/>
                </a:solidFill>
                <a:latin typeface="Calibri" panose="020F0502020204030204" pitchFamily="34" charset="0"/>
                <a:ea typeface="Calibri" panose="020F0502020204030204" pitchFamily="34" charset="-122"/>
                <a:cs typeface="Calibri" panose="020F0502020204030204" pitchFamily="34" charset="-120"/>
              </a:rPr>
              <a:t>Generate business insights via visualization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3200" dirty="0"/>
          </a:p>
        </p:txBody>
      </p:sp>
      <p:sp>
        <p:nvSpPr>
          <p:cNvPr id="3" name="Text 1"/>
          <p:cNvSpPr/>
          <p:nvPr/>
        </p:nvSpPr>
        <p:spPr>
          <a:xfrm>
            <a:off x="640080" y="1097280"/>
            <a:ext cx="10881360" cy="685800"/>
          </a:xfrm>
          <a:prstGeom prst="rect">
            <a:avLst/>
          </a:prstGeom>
          <a:noFill/>
        </p:spPr>
        <p:txBody>
          <a:bodyPr wrap="square" lIns="0" tIns="0" rIns="0" bIns="0" rtlCol="0" anchor="ctr"/>
          <a:lstStyle/>
          <a:p>
            <a:pPr marL="0" indent="0">
              <a:buNone/>
            </a:pPr>
            <a:r>
              <a:rPr lang="en-US" sz="1350" i="1" dirty="0">
                <a:solidFill>
                  <a:srgbClr val="5B6E58"/>
                </a:solidFill>
                <a:latin typeface="Calibri" panose="020F0502020204030204" pitchFamily="34" charset="0"/>
                <a:ea typeface="Calibri" panose="020F0502020204030204" pitchFamily="34" charset="-122"/>
                <a:cs typeface="Calibri" panose="020F0502020204030204" pitchFamily="34" charset="-120"/>
              </a:rPr>
              <a:t>Businesses selling plants often struggle to monitor pricing strategies, discounts, customer satisfaction, product categories, and brand performance from raw spreadsheet data. The goal is to convert this raw data into an interactive dashboard that provides actionable insights.</a:t>
            </a:r>
            <a:endParaRPr lang="en-US" sz="1350" dirty="0"/>
          </a:p>
        </p:txBody>
      </p:sp>
      <p:sp>
        <p:nvSpPr>
          <p:cNvPr id="4" name="Shape 2"/>
          <p:cNvSpPr/>
          <p:nvPr/>
        </p:nvSpPr>
        <p:spPr>
          <a:xfrm>
            <a:off x="640080" y="1965960"/>
            <a:ext cx="5257800" cy="4160520"/>
          </a:xfrm>
          <a:prstGeom prst="roundRect">
            <a:avLst>
              <a:gd name="adj" fmla="val 1978"/>
            </a:avLst>
          </a:prstGeom>
          <a:solidFill>
            <a:srgbClr val="EAF3E7"/>
          </a:solidFill>
          <a:effectLst>
            <a:outerShdw blurRad="101600" dist="38100" dir="5400000" algn="bl" rotWithShape="0">
              <a:srgbClr val="1F4A24">
                <a:alpha val="14000"/>
              </a:srgbClr>
            </a:outerShdw>
          </a:effectLst>
        </p:spPr>
      </p:sp>
      <p:sp>
        <p:nvSpPr>
          <p:cNvPr id="5" name="Shape 3"/>
          <p:cNvSpPr/>
          <p:nvPr/>
        </p:nvSpPr>
        <p:spPr>
          <a:xfrm>
            <a:off x="960120" y="2258568"/>
            <a:ext cx="566928" cy="566928"/>
          </a:xfrm>
          <a:prstGeom prst="ellipse">
            <a:avLst/>
          </a:prstGeom>
          <a:solidFill>
            <a:srgbClr val="4C7A3F"/>
          </a:solidFill>
        </p:spPr>
      </p:sp>
      <p:pic>
        <p:nvPicPr>
          <p:cNvPr id="6" name="Image 0" descr="preencoded.png"/>
          <p:cNvPicPr>
            <a:picLocks noChangeAspect="1"/>
          </p:cNvPicPr>
          <p:nvPr/>
        </p:nvPicPr>
        <p:blipFill>
          <a:blip r:embed="rId1"/>
          <a:stretch>
            <a:fillRect/>
          </a:stretch>
        </p:blipFill>
        <p:spPr>
          <a:xfrm>
            <a:off x="1096183" y="2394631"/>
            <a:ext cx="294803" cy="294803"/>
          </a:xfrm>
          <a:prstGeom prst="rect">
            <a:avLst/>
          </a:prstGeom>
        </p:spPr>
      </p:pic>
      <p:sp>
        <p:nvSpPr>
          <p:cNvPr id="7" name="Text 4"/>
          <p:cNvSpPr/>
          <p:nvPr/>
        </p:nvSpPr>
        <p:spPr>
          <a:xfrm>
            <a:off x="1691640" y="2313432"/>
            <a:ext cx="4069080" cy="457200"/>
          </a:xfrm>
          <a:prstGeom prst="rect">
            <a:avLst/>
          </a:prstGeom>
          <a:noFill/>
        </p:spPr>
        <p:txBody>
          <a:bodyPr wrap="square" lIns="0" tIns="0" rIns="0" bIns="0" rtlCol="0" anchor="ctr"/>
          <a:lstStyle/>
          <a:p>
            <a:pPr marL="0" indent="0">
              <a:buNone/>
            </a:pPr>
            <a:r>
              <a:rPr lang="en-US" sz="1700" b="1" dirty="0">
                <a:solidFill>
                  <a:srgbClr val="1F4A24"/>
                </a:solidFill>
                <a:latin typeface="Calibri" panose="020F0502020204030204" pitchFamily="34" charset="0"/>
                <a:ea typeface="Calibri" panose="020F0502020204030204" pitchFamily="34" charset="-122"/>
                <a:cs typeface="Calibri" panose="020F0502020204030204" pitchFamily="34" charset="-120"/>
              </a:rPr>
              <a:t>Without a Dashboard</a:t>
            </a:r>
            <a:endParaRPr lang="en-US" sz="1700" dirty="0"/>
          </a:p>
        </p:txBody>
      </p:sp>
      <p:sp>
        <p:nvSpPr>
          <p:cNvPr id="8" name="Text 5"/>
          <p:cNvSpPr/>
          <p:nvPr/>
        </p:nvSpPr>
        <p:spPr>
          <a:xfrm>
            <a:off x="1005840" y="3017520"/>
            <a:ext cx="4526280" cy="2926080"/>
          </a:xfrm>
          <a:prstGeom prst="rect">
            <a:avLst/>
          </a:prstGeom>
          <a:noFill/>
        </p:spPr>
        <p:txBody>
          <a:bodyPr wrap="square" lIns="0" tIns="0" rIns="0" bIns="0" rtlCol="0" anchor="ctr"/>
          <a:lstStyle/>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Data is difficult to analyze</a:t>
            </a:r>
            <a:endParaRPr lang="en-US" sz="1400" dirty="0"/>
          </a:p>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Pricing decisions become slow</a:t>
            </a:r>
            <a:endParaRPr lang="en-US" sz="1400" dirty="0"/>
          </a:p>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Product comparison takes time</a:t>
            </a:r>
            <a:endParaRPr lang="en-US" sz="1400" dirty="0"/>
          </a:p>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Brand performance is unclear</a:t>
            </a:r>
            <a:endParaRPr lang="en-US" sz="1400" dirty="0"/>
          </a:p>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Customer preferences stay hidden</a:t>
            </a:r>
            <a:endParaRPr lang="en-US" sz="1400" dirty="0"/>
          </a:p>
          <a:p>
            <a:pPr marL="342900" indent="-342900">
              <a:spcAft>
                <a:spcPts val="1000"/>
              </a:spcAft>
              <a:buSzPct val="100000"/>
              <a:buChar char="•"/>
            </a:pPr>
            <a:r>
              <a:rPr lang="en-US" sz="1400" dirty="0">
                <a:solidFill>
                  <a:srgbClr val="1E2B1E"/>
                </a:solidFill>
                <a:latin typeface="Calibri" panose="020F0502020204030204" pitchFamily="34" charset="0"/>
                <a:ea typeface="Calibri" panose="020F0502020204030204" pitchFamily="34" charset="-122"/>
                <a:cs typeface="Calibri" panose="020F0502020204030204" pitchFamily="34" charset="-120"/>
              </a:rPr>
              <a:t>Decision-making becomes inefficient</a:t>
            </a:r>
            <a:endParaRPr lang="en-US" sz="1400" dirty="0"/>
          </a:p>
        </p:txBody>
      </p:sp>
      <p:sp>
        <p:nvSpPr>
          <p:cNvPr id="9" name="Shape 6"/>
          <p:cNvSpPr/>
          <p:nvPr/>
        </p:nvSpPr>
        <p:spPr>
          <a:xfrm>
            <a:off x="6035040" y="3726180"/>
            <a:ext cx="640080" cy="640080"/>
          </a:xfrm>
          <a:prstGeom prst="ellipse">
            <a:avLst/>
          </a:prstGeom>
          <a:solidFill>
            <a:srgbClr val="1F4A24"/>
          </a:solidFill>
        </p:spPr>
      </p:sp>
      <p:sp>
        <p:nvSpPr>
          <p:cNvPr id="10" name="Text 7"/>
          <p:cNvSpPr/>
          <p:nvPr/>
        </p:nvSpPr>
        <p:spPr>
          <a:xfrm>
            <a:off x="6035040" y="3726180"/>
            <a:ext cx="640080" cy="64008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VS</a:t>
            </a:r>
            <a:endParaRPr lang="en-US" sz="1300" dirty="0"/>
          </a:p>
        </p:txBody>
      </p:sp>
      <p:sp>
        <p:nvSpPr>
          <p:cNvPr id="11" name="Shape 8"/>
          <p:cNvSpPr/>
          <p:nvPr/>
        </p:nvSpPr>
        <p:spPr>
          <a:xfrm>
            <a:off x="6400800" y="1965960"/>
            <a:ext cx="5257800" cy="4160520"/>
          </a:xfrm>
          <a:prstGeom prst="roundRect">
            <a:avLst>
              <a:gd name="adj" fmla="val 1978"/>
            </a:avLst>
          </a:prstGeom>
          <a:solidFill>
            <a:srgbClr val="1F4A24"/>
          </a:solidFill>
          <a:effectLst>
            <a:outerShdw blurRad="101600" dist="38100" dir="5400000" algn="bl" rotWithShape="0">
              <a:srgbClr val="1F4A24">
                <a:alpha val="14000"/>
              </a:srgbClr>
            </a:outerShdw>
          </a:effectLst>
        </p:spPr>
      </p:sp>
      <p:sp>
        <p:nvSpPr>
          <p:cNvPr id="12" name="Shape 9"/>
          <p:cNvSpPr/>
          <p:nvPr/>
        </p:nvSpPr>
        <p:spPr>
          <a:xfrm>
            <a:off x="6720840" y="2258568"/>
            <a:ext cx="566928" cy="566928"/>
          </a:xfrm>
          <a:prstGeom prst="ellipse">
            <a:avLst/>
          </a:prstGeom>
          <a:solidFill>
            <a:srgbClr val="FFFFFF"/>
          </a:solidFill>
        </p:spPr>
      </p:sp>
      <p:pic>
        <p:nvPicPr>
          <p:cNvPr id="13" name="Image 1" descr="preencoded.png"/>
          <p:cNvPicPr>
            <a:picLocks noChangeAspect="1"/>
          </p:cNvPicPr>
          <p:nvPr/>
        </p:nvPicPr>
        <p:blipFill>
          <a:blip r:embed="rId2"/>
          <a:stretch>
            <a:fillRect/>
          </a:stretch>
        </p:blipFill>
        <p:spPr>
          <a:xfrm>
            <a:off x="6848399" y="2386127"/>
            <a:ext cx="311810" cy="311810"/>
          </a:xfrm>
          <a:prstGeom prst="rect">
            <a:avLst/>
          </a:prstGeom>
        </p:spPr>
      </p:pic>
      <p:sp>
        <p:nvSpPr>
          <p:cNvPr id="14" name="Text 10"/>
          <p:cNvSpPr/>
          <p:nvPr/>
        </p:nvSpPr>
        <p:spPr>
          <a:xfrm>
            <a:off x="7452360" y="2258568"/>
            <a:ext cx="4069080" cy="54864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With the Interactive Dashboard</a:t>
            </a:r>
            <a:endParaRPr lang="en-US" sz="1550" dirty="0"/>
          </a:p>
        </p:txBody>
      </p:sp>
      <p:sp>
        <p:nvSpPr>
          <p:cNvPr id="15" name="Text 11"/>
          <p:cNvSpPr/>
          <p:nvPr/>
        </p:nvSpPr>
        <p:spPr>
          <a:xfrm>
            <a:off x="6766560" y="3017520"/>
            <a:ext cx="4526280" cy="2926080"/>
          </a:xfrm>
          <a:prstGeom prst="rect">
            <a:avLst/>
          </a:prstGeom>
          <a:noFill/>
        </p:spPr>
        <p:txBody>
          <a:bodyPr wrap="square" lIns="0" tIns="0" rIns="0" bIns="0" rtlCol="0" anchor="ctr"/>
          <a:lstStyle/>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Instant, visual data analysis</a:t>
            </a:r>
            <a:endParaRPr lang="en-US" sz="1400" dirty="0"/>
          </a:p>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Faster, confident pricing decisions</a:t>
            </a:r>
            <a:endParaRPr lang="en-US" sz="1400" dirty="0"/>
          </a:p>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Quick product &amp; brand comparison</a:t>
            </a:r>
            <a:endParaRPr lang="en-US" sz="1400" dirty="0"/>
          </a:p>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Clear view of top-performing brands</a:t>
            </a:r>
            <a:endParaRPr lang="en-US" sz="1400" dirty="0"/>
          </a:p>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Customer preferences revealed</a:t>
            </a:r>
            <a:endParaRPr lang="en-US" sz="1400" dirty="0"/>
          </a:p>
          <a:p>
            <a:pPr marL="342900" indent="-342900">
              <a:spcAft>
                <a:spcPts val="10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Efficient, data-driven decisions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F3E7"/>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Dataset Overview</a:t>
            </a:r>
            <a:endParaRPr lang="en-US" sz="3200" dirty="0"/>
          </a:p>
        </p:txBody>
      </p:sp>
      <p:sp>
        <p:nvSpPr>
          <p:cNvPr id="3" name="Text 1"/>
          <p:cNvSpPr/>
          <p:nvPr/>
        </p:nvSpPr>
        <p:spPr>
          <a:xfrm>
            <a:off x="640080" y="1097280"/>
            <a:ext cx="10515600" cy="365760"/>
          </a:xfrm>
          <a:prstGeom prst="rect">
            <a:avLst/>
          </a:prstGeom>
          <a:noFill/>
        </p:spPr>
        <p:txBody>
          <a:bodyPr wrap="square" lIns="0" tIns="0" rIns="0" bIns="0" rtlCol="0" anchor="ctr"/>
          <a:lstStyle/>
          <a:p>
            <a:pPr marL="0" indent="0">
              <a:buNone/>
            </a:pPr>
            <a:r>
              <a:rPr lang="en-US" sz="1400" dirty="0">
                <a:solidFill>
                  <a:srgbClr val="5B6E58"/>
                </a:solidFill>
                <a:latin typeface="Calibri" panose="020F0502020204030204" pitchFamily="34" charset="0"/>
                <a:ea typeface="Calibri" panose="020F0502020204030204" pitchFamily="34" charset="-122"/>
                <a:cs typeface="Calibri" panose="020F0502020204030204" pitchFamily="34" charset="-120"/>
              </a:rPr>
              <a:t>The dataset contains plant product information across the following fields:</a:t>
            </a:r>
            <a:endParaRPr lang="en-US" sz="1400" dirty="0"/>
          </a:p>
        </p:txBody>
      </p:sp>
      <p:sp>
        <p:nvSpPr>
          <p:cNvPr id="4" name="Shape 2"/>
          <p:cNvSpPr/>
          <p:nvPr/>
        </p:nvSpPr>
        <p:spPr>
          <a:xfrm>
            <a:off x="640080"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5" name="Text 3"/>
          <p:cNvSpPr/>
          <p:nvPr/>
        </p:nvSpPr>
        <p:spPr>
          <a:xfrm>
            <a:off x="685800"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ID</a:t>
            </a:r>
            <a:endParaRPr lang="en-US" sz="1200" dirty="0"/>
          </a:p>
        </p:txBody>
      </p:sp>
      <p:sp>
        <p:nvSpPr>
          <p:cNvPr id="6" name="Shape 4"/>
          <p:cNvSpPr/>
          <p:nvPr/>
        </p:nvSpPr>
        <p:spPr>
          <a:xfrm>
            <a:off x="2489149"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7" name="Text 5"/>
          <p:cNvSpPr/>
          <p:nvPr/>
        </p:nvSpPr>
        <p:spPr>
          <a:xfrm>
            <a:off x="2534869"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Plant Date</a:t>
            </a:r>
            <a:endParaRPr lang="en-US" sz="1200" dirty="0"/>
          </a:p>
        </p:txBody>
      </p:sp>
      <p:sp>
        <p:nvSpPr>
          <p:cNvPr id="8" name="Shape 6"/>
          <p:cNvSpPr/>
          <p:nvPr/>
        </p:nvSpPr>
        <p:spPr>
          <a:xfrm>
            <a:off x="4338218"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9" name="Text 7"/>
          <p:cNvSpPr/>
          <p:nvPr/>
        </p:nvSpPr>
        <p:spPr>
          <a:xfrm>
            <a:off x="4383938"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Name</a:t>
            </a:r>
            <a:endParaRPr lang="en-US" sz="1200" dirty="0"/>
          </a:p>
        </p:txBody>
      </p:sp>
      <p:sp>
        <p:nvSpPr>
          <p:cNvPr id="10" name="Shape 8"/>
          <p:cNvSpPr/>
          <p:nvPr/>
        </p:nvSpPr>
        <p:spPr>
          <a:xfrm>
            <a:off x="6187288"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11" name="Text 9"/>
          <p:cNvSpPr/>
          <p:nvPr/>
        </p:nvSpPr>
        <p:spPr>
          <a:xfrm>
            <a:off x="6233008"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Original Price</a:t>
            </a:r>
            <a:endParaRPr lang="en-US" sz="1200" dirty="0"/>
          </a:p>
        </p:txBody>
      </p:sp>
      <p:sp>
        <p:nvSpPr>
          <p:cNvPr id="12" name="Shape 10"/>
          <p:cNvSpPr/>
          <p:nvPr/>
        </p:nvSpPr>
        <p:spPr>
          <a:xfrm>
            <a:off x="8036357"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13" name="Text 11"/>
          <p:cNvSpPr/>
          <p:nvPr/>
        </p:nvSpPr>
        <p:spPr>
          <a:xfrm>
            <a:off x="8082077"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Special Price</a:t>
            </a:r>
            <a:endParaRPr lang="en-US" sz="1200" dirty="0"/>
          </a:p>
        </p:txBody>
      </p:sp>
      <p:sp>
        <p:nvSpPr>
          <p:cNvPr id="14" name="Shape 12"/>
          <p:cNvSpPr/>
          <p:nvPr/>
        </p:nvSpPr>
        <p:spPr>
          <a:xfrm>
            <a:off x="9885426" y="164592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15" name="Text 13"/>
          <p:cNvSpPr/>
          <p:nvPr/>
        </p:nvSpPr>
        <p:spPr>
          <a:xfrm>
            <a:off x="9931146" y="164592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Discount</a:t>
            </a:r>
            <a:endParaRPr lang="en-US" sz="1200" dirty="0"/>
          </a:p>
        </p:txBody>
      </p:sp>
      <p:sp>
        <p:nvSpPr>
          <p:cNvPr id="16" name="Shape 14"/>
          <p:cNvSpPr/>
          <p:nvPr/>
        </p:nvSpPr>
        <p:spPr>
          <a:xfrm>
            <a:off x="640080"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17" name="Text 15"/>
          <p:cNvSpPr/>
          <p:nvPr/>
        </p:nvSpPr>
        <p:spPr>
          <a:xfrm>
            <a:off x="685800"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Rating</a:t>
            </a:r>
            <a:endParaRPr lang="en-US" sz="1200" dirty="0"/>
          </a:p>
        </p:txBody>
      </p:sp>
      <p:sp>
        <p:nvSpPr>
          <p:cNvPr id="18" name="Shape 16"/>
          <p:cNvSpPr/>
          <p:nvPr/>
        </p:nvSpPr>
        <p:spPr>
          <a:xfrm>
            <a:off x="2489149"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19" name="Text 17"/>
          <p:cNvSpPr/>
          <p:nvPr/>
        </p:nvSpPr>
        <p:spPr>
          <a:xfrm>
            <a:off x="2534869"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Plant Size</a:t>
            </a:r>
            <a:endParaRPr lang="en-US" sz="1200" dirty="0"/>
          </a:p>
        </p:txBody>
      </p:sp>
      <p:sp>
        <p:nvSpPr>
          <p:cNvPr id="20" name="Shape 18"/>
          <p:cNvSpPr/>
          <p:nvPr/>
        </p:nvSpPr>
        <p:spPr>
          <a:xfrm>
            <a:off x="4338218"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21" name="Text 19"/>
          <p:cNvSpPr/>
          <p:nvPr/>
        </p:nvSpPr>
        <p:spPr>
          <a:xfrm>
            <a:off x="4383938"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Type</a:t>
            </a:r>
            <a:endParaRPr lang="en-US" sz="1200" dirty="0"/>
          </a:p>
        </p:txBody>
      </p:sp>
      <p:sp>
        <p:nvSpPr>
          <p:cNvPr id="22" name="Shape 20"/>
          <p:cNvSpPr/>
          <p:nvPr/>
        </p:nvSpPr>
        <p:spPr>
          <a:xfrm>
            <a:off x="6187288"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23" name="Text 21"/>
          <p:cNvSpPr/>
          <p:nvPr/>
        </p:nvSpPr>
        <p:spPr>
          <a:xfrm>
            <a:off x="6233008"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Location</a:t>
            </a:r>
            <a:endParaRPr lang="en-US" sz="1200" dirty="0"/>
          </a:p>
        </p:txBody>
      </p:sp>
      <p:sp>
        <p:nvSpPr>
          <p:cNvPr id="24" name="Shape 22"/>
          <p:cNvSpPr/>
          <p:nvPr/>
        </p:nvSpPr>
        <p:spPr>
          <a:xfrm>
            <a:off x="8036357"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25" name="Text 23"/>
          <p:cNvSpPr/>
          <p:nvPr/>
        </p:nvSpPr>
        <p:spPr>
          <a:xfrm>
            <a:off x="8082077"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Brand Name</a:t>
            </a:r>
            <a:endParaRPr lang="en-US" sz="1200" dirty="0"/>
          </a:p>
        </p:txBody>
      </p:sp>
      <p:sp>
        <p:nvSpPr>
          <p:cNvPr id="26" name="Shape 24"/>
          <p:cNvSpPr/>
          <p:nvPr/>
        </p:nvSpPr>
        <p:spPr>
          <a:xfrm>
            <a:off x="9885426" y="2606040"/>
            <a:ext cx="1666189" cy="777240"/>
          </a:xfrm>
          <a:prstGeom prst="roundRect">
            <a:avLst>
              <a:gd name="adj" fmla="val 9412"/>
            </a:avLst>
          </a:prstGeom>
          <a:solidFill>
            <a:srgbClr val="FFFFFF"/>
          </a:solidFill>
          <a:ln w="12700">
            <a:solidFill>
              <a:srgbClr val="D7E8D2"/>
            </a:solidFill>
            <a:prstDash val="solid"/>
          </a:ln>
          <a:effectLst>
            <a:outerShdw blurRad="101600" dist="38100" dir="5400000" algn="bl" rotWithShape="0">
              <a:srgbClr val="1F4A24">
                <a:alpha val="14000"/>
              </a:srgbClr>
            </a:outerShdw>
          </a:effectLst>
        </p:spPr>
      </p:sp>
      <p:sp>
        <p:nvSpPr>
          <p:cNvPr id="27" name="Text 25"/>
          <p:cNvSpPr/>
          <p:nvPr/>
        </p:nvSpPr>
        <p:spPr>
          <a:xfrm>
            <a:off x="9931146" y="2606040"/>
            <a:ext cx="1574749" cy="777240"/>
          </a:xfrm>
          <a:prstGeom prst="rect">
            <a:avLst/>
          </a:prstGeom>
          <a:noFill/>
        </p:spPr>
        <p:txBody>
          <a:bodyPr wrap="square" lIns="0" tIns="0" rIns="0" bIns="0" rtlCol="0" anchor="ctr"/>
          <a:lstStyle/>
          <a:p>
            <a:pPr marL="0" indent="0" algn="ctr">
              <a:buNone/>
            </a:pPr>
            <a:r>
              <a:rPr lang="en-US" sz="1200" b="1" dirty="0">
                <a:solidFill>
                  <a:srgbClr val="1F4A24"/>
                </a:solidFill>
                <a:latin typeface="Calibri" panose="020F0502020204030204" pitchFamily="34" charset="0"/>
                <a:ea typeface="Calibri" panose="020F0502020204030204" pitchFamily="34" charset="-122"/>
                <a:cs typeface="Calibri" panose="020F0502020204030204" pitchFamily="34" charset="-120"/>
              </a:rPr>
              <a:t>Return</a:t>
            </a:r>
            <a:endParaRPr lang="en-US" sz="1200" dirty="0"/>
          </a:p>
        </p:txBody>
      </p:sp>
      <p:sp>
        <p:nvSpPr>
          <p:cNvPr id="28" name="Shape 26"/>
          <p:cNvSpPr/>
          <p:nvPr/>
        </p:nvSpPr>
        <p:spPr>
          <a:xfrm>
            <a:off x="640080" y="3794760"/>
            <a:ext cx="2577008" cy="1051560"/>
          </a:xfrm>
          <a:prstGeom prst="roundRect">
            <a:avLst>
              <a:gd name="adj" fmla="val 7826"/>
            </a:avLst>
          </a:prstGeom>
          <a:solidFill>
            <a:srgbClr val="1F4A24"/>
          </a:solidFill>
          <a:effectLst>
            <a:outerShdw blurRad="101600" dist="38100" dir="5400000" algn="bl" rotWithShape="0">
              <a:srgbClr val="1F4A24">
                <a:alpha val="14000"/>
              </a:srgbClr>
            </a:outerShdw>
          </a:effectLst>
        </p:spPr>
      </p:sp>
      <p:pic>
        <p:nvPicPr>
          <p:cNvPr id="29" name="Image 0" descr="preencoded.png"/>
          <p:cNvPicPr>
            <a:picLocks noChangeAspect="1"/>
          </p:cNvPicPr>
          <p:nvPr/>
        </p:nvPicPr>
        <p:blipFill>
          <a:blip r:embed="rId1"/>
          <a:stretch>
            <a:fillRect/>
          </a:stretch>
        </p:blipFill>
        <p:spPr>
          <a:xfrm>
            <a:off x="841248" y="4014216"/>
            <a:ext cx="457200" cy="457200"/>
          </a:xfrm>
          <a:prstGeom prst="rect">
            <a:avLst/>
          </a:prstGeom>
        </p:spPr>
      </p:pic>
      <p:sp>
        <p:nvSpPr>
          <p:cNvPr id="30" name="Text 27"/>
          <p:cNvSpPr/>
          <p:nvPr/>
        </p:nvSpPr>
        <p:spPr>
          <a:xfrm>
            <a:off x="1417320" y="3794760"/>
            <a:ext cx="1662608" cy="105156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Dataset cleaned in Excel</a:t>
            </a:r>
            <a:endParaRPr lang="en-US" sz="1200" dirty="0"/>
          </a:p>
        </p:txBody>
      </p:sp>
      <p:sp>
        <p:nvSpPr>
          <p:cNvPr id="31" name="Shape 28"/>
          <p:cNvSpPr/>
          <p:nvPr/>
        </p:nvSpPr>
        <p:spPr>
          <a:xfrm>
            <a:off x="3418256" y="3794760"/>
            <a:ext cx="2577008" cy="1051560"/>
          </a:xfrm>
          <a:prstGeom prst="roundRect">
            <a:avLst>
              <a:gd name="adj" fmla="val 7826"/>
            </a:avLst>
          </a:prstGeom>
          <a:solidFill>
            <a:srgbClr val="1F4A24"/>
          </a:solidFill>
          <a:effectLst>
            <a:outerShdw blurRad="101600" dist="38100" dir="5400000" algn="bl" rotWithShape="0">
              <a:srgbClr val="1F4A24">
                <a:alpha val="14000"/>
              </a:srgbClr>
            </a:outerShdw>
          </a:effectLst>
        </p:spPr>
      </p:sp>
      <p:pic>
        <p:nvPicPr>
          <p:cNvPr id="32" name="Image 1" descr="preencoded.png"/>
          <p:cNvPicPr>
            <a:picLocks noChangeAspect="1"/>
          </p:cNvPicPr>
          <p:nvPr/>
        </p:nvPicPr>
        <p:blipFill>
          <a:blip r:embed="rId2"/>
          <a:stretch>
            <a:fillRect/>
          </a:stretch>
        </p:blipFill>
        <p:spPr>
          <a:xfrm>
            <a:off x="3619424" y="4014216"/>
            <a:ext cx="457200" cy="457200"/>
          </a:xfrm>
          <a:prstGeom prst="rect">
            <a:avLst/>
          </a:prstGeom>
        </p:spPr>
      </p:pic>
      <p:sp>
        <p:nvSpPr>
          <p:cNvPr id="33" name="Text 29"/>
          <p:cNvSpPr/>
          <p:nvPr/>
        </p:nvSpPr>
        <p:spPr>
          <a:xfrm>
            <a:off x="4195496" y="3794760"/>
            <a:ext cx="1662608" cy="105156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Missing values handled</a:t>
            </a:r>
            <a:endParaRPr lang="en-US" sz="1200" dirty="0"/>
          </a:p>
        </p:txBody>
      </p:sp>
      <p:sp>
        <p:nvSpPr>
          <p:cNvPr id="34" name="Shape 30"/>
          <p:cNvSpPr/>
          <p:nvPr/>
        </p:nvSpPr>
        <p:spPr>
          <a:xfrm>
            <a:off x="6196432" y="3794760"/>
            <a:ext cx="2577008" cy="1051560"/>
          </a:xfrm>
          <a:prstGeom prst="roundRect">
            <a:avLst>
              <a:gd name="adj" fmla="val 7826"/>
            </a:avLst>
          </a:prstGeom>
          <a:solidFill>
            <a:srgbClr val="1F4A24"/>
          </a:solidFill>
          <a:effectLst>
            <a:outerShdw blurRad="101600" dist="38100" dir="5400000" algn="bl" rotWithShape="0">
              <a:srgbClr val="1F4A24">
                <a:alpha val="14000"/>
              </a:srgbClr>
            </a:outerShdw>
          </a:effectLst>
        </p:spPr>
      </p:sp>
      <p:pic>
        <p:nvPicPr>
          <p:cNvPr id="35" name="Image 2" descr="preencoded.png"/>
          <p:cNvPicPr>
            <a:picLocks noChangeAspect="1"/>
          </p:cNvPicPr>
          <p:nvPr/>
        </p:nvPicPr>
        <p:blipFill>
          <a:blip r:embed="rId3"/>
          <a:stretch>
            <a:fillRect/>
          </a:stretch>
        </p:blipFill>
        <p:spPr>
          <a:xfrm>
            <a:off x="6397600" y="4014216"/>
            <a:ext cx="457200" cy="457200"/>
          </a:xfrm>
          <a:prstGeom prst="rect">
            <a:avLst/>
          </a:prstGeom>
        </p:spPr>
      </p:pic>
      <p:sp>
        <p:nvSpPr>
          <p:cNvPr id="36" name="Text 31"/>
          <p:cNvSpPr/>
          <p:nvPr/>
        </p:nvSpPr>
        <p:spPr>
          <a:xfrm>
            <a:off x="6973672" y="3794760"/>
            <a:ext cx="1662608" cy="105156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formatted</a:t>
            </a:r>
            <a:endParaRPr lang="en-US" sz="1200" dirty="0"/>
          </a:p>
        </p:txBody>
      </p:sp>
      <p:sp>
        <p:nvSpPr>
          <p:cNvPr id="37" name="Shape 32"/>
          <p:cNvSpPr/>
          <p:nvPr/>
        </p:nvSpPr>
        <p:spPr>
          <a:xfrm>
            <a:off x="8974607" y="3794760"/>
            <a:ext cx="2577008" cy="1051560"/>
          </a:xfrm>
          <a:prstGeom prst="roundRect">
            <a:avLst>
              <a:gd name="adj" fmla="val 7826"/>
            </a:avLst>
          </a:prstGeom>
          <a:solidFill>
            <a:srgbClr val="1F4A24"/>
          </a:solidFill>
          <a:effectLst>
            <a:outerShdw blurRad="101600" dist="38100" dir="5400000" algn="bl" rotWithShape="0">
              <a:srgbClr val="1F4A24">
                <a:alpha val="14000"/>
              </a:srgbClr>
            </a:outerShdw>
          </a:effectLst>
        </p:spPr>
      </p:sp>
      <p:pic>
        <p:nvPicPr>
          <p:cNvPr id="38" name="Image 3" descr="preencoded.png"/>
          <p:cNvPicPr>
            <a:picLocks noChangeAspect="1"/>
          </p:cNvPicPr>
          <p:nvPr/>
        </p:nvPicPr>
        <p:blipFill>
          <a:blip r:embed="rId4"/>
          <a:stretch>
            <a:fillRect/>
          </a:stretch>
        </p:blipFill>
        <p:spPr>
          <a:xfrm>
            <a:off x="9175775" y="4014216"/>
            <a:ext cx="457200" cy="457200"/>
          </a:xfrm>
          <a:prstGeom prst="rect">
            <a:avLst/>
          </a:prstGeom>
        </p:spPr>
      </p:pic>
      <p:sp>
        <p:nvSpPr>
          <p:cNvPr id="39" name="Text 33"/>
          <p:cNvSpPr/>
          <p:nvPr/>
        </p:nvSpPr>
        <p:spPr>
          <a:xfrm>
            <a:off x="9751847" y="3794760"/>
            <a:ext cx="1662608" cy="105156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Ready for dashboard creation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Data Preparation Workflow</a:t>
            </a:r>
            <a:endParaRPr lang="en-US" sz="3200" dirty="0"/>
          </a:p>
        </p:txBody>
      </p:sp>
      <p:sp>
        <p:nvSpPr>
          <p:cNvPr id="3" name="Shape 1"/>
          <p:cNvSpPr/>
          <p:nvPr/>
        </p:nvSpPr>
        <p:spPr>
          <a:xfrm>
            <a:off x="640080"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4" name="Shape 2"/>
          <p:cNvSpPr/>
          <p:nvPr/>
        </p:nvSpPr>
        <p:spPr>
          <a:xfrm>
            <a:off x="1097476" y="1856232"/>
            <a:ext cx="502920" cy="502920"/>
          </a:xfrm>
          <a:prstGeom prst="ellipse">
            <a:avLst/>
          </a:prstGeom>
          <a:solidFill>
            <a:srgbClr val="1F4A24"/>
          </a:solidFill>
        </p:spPr>
      </p:sp>
      <p:pic>
        <p:nvPicPr>
          <p:cNvPr id="5" name="Image 0" descr="preencoded.png"/>
          <p:cNvPicPr>
            <a:picLocks noChangeAspect="1"/>
          </p:cNvPicPr>
          <p:nvPr/>
        </p:nvPicPr>
        <p:blipFill>
          <a:blip r:embed="rId1"/>
          <a:stretch>
            <a:fillRect/>
          </a:stretch>
        </p:blipFill>
        <p:spPr>
          <a:xfrm>
            <a:off x="1210633" y="1969389"/>
            <a:ext cx="276606" cy="276606"/>
          </a:xfrm>
          <a:prstGeom prst="rect">
            <a:avLst/>
          </a:prstGeom>
        </p:spPr>
      </p:pic>
      <p:sp>
        <p:nvSpPr>
          <p:cNvPr id="6" name="Text 3"/>
          <p:cNvSpPr/>
          <p:nvPr/>
        </p:nvSpPr>
        <p:spPr>
          <a:xfrm>
            <a:off x="694944"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Raw Dataset</a:t>
            </a:r>
            <a:endParaRPr lang="en-US" sz="1050" dirty="0"/>
          </a:p>
        </p:txBody>
      </p:sp>
      <p:sp>
        <p:nvSpPr>
          <p:cNvPr id="7" name="Shape 4"/>
          <p:cNvSpPr/>
          <p:nvPr/>
        </p:nvSpPr>
        <p:spPr>
          <a:xfrm>
            <a:off x="2057792" y="2318004"/>
            <a:ext cx="164592" cy="164592"/>
          </a:xfrm>
          <a:prstGeom prst="ellipse">
            <a:avLst/>
          </a:prstGeom>
          <a:solidFill>
            <a:srgbClr val="4C7A3F"/>
          </a:solidFill>
        </p:spPr>
      </p:sp>
      <p:sp>
        <p:nvSpPr>
          <p:cNvPr id="8" name="Shape 5"/>
          <p:cNvSpPr/>
          <p:nvPr/>
        </p:nvSpPr>
        <p:spPr>
          <a:xfrm>
            <a:off x="2222384"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9" name="Shape 6"/>
          <p:cNvSpPr/>
          <p:nvPr/>
        </p:nvSpPr>
        <p:spPr>
          <a:xfrm>
            <a:off x="2679780" y="1856232"/>
            <a:ext cx="502920" cy="502920"/>
          </a:xfrm>
          <a:prstGeom prst="ellipse">
            <a:avLst/>
          </a:prstGeom>
          <a:solidFill>
            <a:srgbClr val="1F4A24"/>
          </a:solidFill>
        </p:spPr>
      </p:sp>
      <p:pic>
        <p:nvPicPr>
          <p:cNvPr id="10" name="Image 1" descr="preencoded.png"/>
          <p:cNvPicPr>
            <a:picLocks noChangeAspect="1"/>
          </p:cNvPicPr>
          <p:nvPr/>
        </p:nvPicPr>
        <p:blipFill>
          <a:blip r:embed="rId2"/>
          <a:stretch>
            <a:fillRect/>
          </a:stretch>
        </p:blipFill>
        <p:spPr>
          <a:xfrm>
            <a:off x="2792937" y="1969389"/>
            <a:ext cx="276606" cy="276606"/>
          </a:xfrm>
          <a:prstGeom prst="rect">
            <a:avLst/>
          </a:prstGeom>
        </p:spPr>
      </p:pic>
      <p:sp>
        <p:nvSpPr>
          <p:cNvPr id="11" name="Text 7"/>
          <p:cNvSpPr/>
          <p:nvPr/>
        </p:nvSpPr>
        <p:spPr>
          <a:xfrm>
            <a:off x="2277248"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Data Cleaning</a:t>
            </a:r>
            <a:endParaRPr lang="en-US" sz="1050" dirty="0"/>
          </a:p>
        </p:txBody>
      </p:sp>
      <p:sp>
        <p:nvSpPr>
          <p:cNvPr id="12" name="Shape 8"/>
          <p:cNvSpPr/>
          <p:nvPr/>
        </p:nvSpPr>
        <p:spPr>
          <a:xfrm>
            <a:off x="3640096" y="2318004"/>
            <a:ext cx="164592" cy="164592"/>
          </a:xfrm>
          <a:prstGeom prst="ellipse">
            <a:avLst/>
          </a:prstGeom>
          <a:solidFill>
            <a:srgbClr val="4C7A3F"/>
          </a:solidFill>
        </p:spPr>
      </p:sp>
      <p:sp>
        <p:nvSpPr>
          <p:cNvPr id="13" name="Shape 9"/>
          <p:cNvSpPr/>
          <p:nvPr/>
        </p:nvSpPr>
        <p:spPr>
          <a:xfrm>
            <a:off x="3804688"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14" name="Shape 10"/>
          <p:cNvSpPr/>
          <p:nvPr/>
        </p:nvSpPr>
        <p:spPr>
          <a:xfrm>
            <a:off x="4262084" y="1856232"/>
            <a:ext cx="502920" cy="502920"/>
          </a:xfrm>
          <a:prstGeom prst="ellipse">
            <a:avLst/>
          </a:prstGeom>
          <a:solidFill>
            <a:srgbClr val="1F4A24"/>
          </a:solidFill>
        </p:spPr>
      </p:sp>
      <p:pic>
        <p:nvPicPr>
          <p:cNvPr id="15" name="Image 2" descr="preencoded.png"/>
          <p:cNvPicPr>
            <a:picLocks noChangeAspect="1"/>
          </p:cNvPicPr>
          <p:nvPr/>
        </p:nvPicPr>
        <p:blipFill>
          <a:blip r:embed="rId3"/>
          <a:stretch>
            <a:fillRect/>
          </a:stretch>
        </p:blipFill>
        <p:spPr>
          <a:xfrm>
            <a:off x="4375241" y="1969389"/>
            <a:ext cx="276606" cy="276606"/>
          </a:xfrm>
          <a:prstGeom prst="rect">
            <a:avLst/>
          </a:prstGeom>
        </p:spPr>
      </p:pic>
      <p:sp>
        <p:nvSpPr>
          <p:cNvPr id="16" name="Text 11"/>
          <p:cNvSpPr/>
          <p:nvPr/>
        </p:nvSpPr>
        <p:spPr>
          <a:xfrm>
            <a:off x="3859552"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Formatting</a:t>
            </a:r>
            <a:endParaRPr lang="en-US" sz="1050" dirty="0"/>
          </a:p>
        </p:txBody>
      </p:sp>
      <p:sp>
        <p:nvSpPr>
          <p:cNvPr id="17" name="Shape 12"/>
          <p:cNvSpPr/>
          <p:nvPr/>
        </p:nvSpPr>
        <p:spPr>
          <a:xfrm>
            <a:off x="5222400" y="2318004"/>
            <a:ext cx="164592" cy="164592"/>
          </a:xfrm>
          <a:prstGeom prst="ellipse">
            <a:avLst/>
          </a:prstGeom>
          <a:solidFill>
            <a:srgbClr val="4C7A3F"/>
          </a:solidFill>
        </p:spPr>
      </p:sp>
      <p:sp>
        <p:nvSpPr>
          <p:cNvPr id="18" name="Shape 13"/>
          <p:cNvSpPr/>
          <p:nvPr/>
        </p:nvSpPr>
        <p:spPr>
          <a:xfrm>
            <a:off x="5386992"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19" name="Shape 14"/>
          <p:cNvSpPr/>
          <p:nvPr/>
        </p:nvSpPr>
        <p:spPr>
          <a:xfrm>
            <a:off x="5844388" y="1856232"/>
            <a:ext cx="502920" cy="502920"/>
          </a:xfrm>
          <a:prstGeom prst="ellipse">
            <a:avLst/>
          </a:prstGeom>
          <a:solidFill>
            <a:srgbClr val="1F4A24"/>
          </a:solidFill>
        </p:spPr>
      </p:sp>
      <p:pic>
        <p:nvPicPr>
          <p:cNvPr id="20" name="Image 3" descr="preencoded.png"/>
          <p:cNvPicPr>
            <a:picLocks noChangeAspect="1"/>
          </p:cNvPicPr>
          <p:nvPr/>
        </p:nvPicPr>
        <p:blipFill>
          <a:blip r:embed="rId4"/>
          <a:stretch>
            <a:fillRect/>
          </a:stretch>
        </p:blipFill>
        <p:spPr>
          <a:xfrm>
            <a:off x="5957545" y="1969389"/>
            <a:ext cx="276606" cy="276606"/>
          </a:xfrm>
          <a:prstGeom prst="rect">
            <a:avLst/>
          </a:prstGeom>
        </p:spPr>
      </p:pic>
      <p:sp>
        <p:nvSpPr>
          <p:cNvPr id="21" name="Text 15"/>
          <p:cNvSpPr/>
          <p:nvPr/>
        </p:nvSpPr>
        <p:spPr>
          <a:xfrm>
            <a:off x="5441856"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Calculated Columns</a:t>
            </a:r>
            <a:endParaRPr lang="en-US" sz="1050" dirty="0"/>
          </a:p>
        </p:txBody>
      </p:sp>
      <p:sp>
        <p:nvSpPr>
          <p:cNvPr id="22" name="Shape 16"/>
          <p:cNvSpPr/>
          <p:nvPr/>
        </p:nvSpPr>
        <p:spPr>
          <a:xfrm>
            <a:off x="6804704" y="2318004"/>
            <a:ext cx="164592" cy="164592"/>
          </a:xfrm>
          <a:prstGeom prst="ellipse">
            <a:avLst/>
          </a:prstGeom>
          <a:solidFill>
            <a:srgbClr val="4C7A3F"/>
          </a:solidFill>
        </p:spPr>
      </p:sp>
      <p:sp>
        <p:nvSpPr>
          <p:cNvPr id="23" name="Shape 17"/>
          <p:cNvSpPr/>
          <p:nvPr/>
        </p:nvSpPr>
        <p:spPr>
          <a:xfrm>
            <a:off x="6969296"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24" name="Shape 18"/>
          <p:cNvSpPr/>
          <p:nvPr/>
        </p:nvSpPr>
        <p:spPr>
          <a:xfrm>
            <a:off x="7426691" y="1856232"/>
            <a:ext cx="502920" cy="502920"/>
          </a:xfrm>
          <a:prstGeom prst="ellipse">
            <a:avLst/>
          </a:prstGeom>
          <a:solidFill>
            <a:srgbClr val="1F4A24"/>
          </a:solidFill>
        </p:spPr>
      </p:sp>
      <p:pic>
        <p:nvPicPr>
          <p:cNvPr id="25" name="Image 4" descr="preencoded.png"/>
          <p:cNvPicPr>
            <a:picLocks noChangeAspect="1"/>
          </p:cNvPicPr>
          <p:nvPr/>
        </p:nvPicPr>
        <p:blipFill>
          <a:blip r:embed="rId5"/>
          <a:stretch>
            <a:fillRect/>
          </a:stretch>
        </p:blipFill>
        <p:spPr>
          <a:xfrm>
            <a:off x="7539848" y="1969389"/>
            <a:ext cx="276606" cy="276606"/>
          </a:xfrm>
          <a:prstGeom prst="rect">
            <a:avLst/>
          </a:prstGeom>
        </p:spPr>
      </p:pic>
      <p:sp>
        <p:nvSpPr>
          <p:cNvPr id="26" name="Text 19"/>
          <p:cNvSpPr/>
          <p:nvPr/>
        </p:nvSpPr>
        <p:spPr>
          <a:xfrm>
            <a:off x="7024160"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Pivot Tables</a:t>
            </a:r>
            <a:endParaRPr lang="en-US" sz="1050" dirty="0"/>
          </a:p>
        </p:txBody>
      </p:sp>
      <p:sp>
        <p:nvSpPr>
          <p:cNvPr id="27" name="Shape 20"/>
          <p:cNvSpPr/>
          <p:nvPr/>
        </p:nvSpPr>
        <p:spPr>
          <a:xfrm>
            <a:off x="8387007" y="2318004"/>
            <a:ext cx="164592" cy="164592"/>
          </a:xfrm>
          <a:prstGeom prst="ellipse">
            <a:avLst/>
          </a:prstGeom>
          <a:solidFill>
            <a:srgbClr val="4C7A3F"/>
          </a:solidFill>
        </p:spPr>
      </p:sp>
      <p:sp>
        <p:nvSpPr>
          <p:cNvPr id="28" name="Shape 21"/>
          <p:cNvSpPr/>
          <p:nvPr/>
        </p:nvSpPr>
        <p:spPr>
          <a:xfrm>
            <a:off x="8551599" y="1691640"/>
            <a:ext cx="1417712" cy="1417320"/>
          </a:xfrm>
          <a:prstGeom prst="roundRect">
            <a:avLst>
              <a:gd name="adj" fmla="val 5806"/>
            </a:avLst>
          </a:prstGeom>
          <a:solidFill>
            <a:srgbClr val="EAF3E7"/>
          </a:solidFill>
          <a:effectLst>
            <a:outerShdw blurRad="101600" dist="38100" dir="5400000" algn="bl" rotWithShape="0">
              <a:srgbClr val="1F4A24">
                <a:alpha val="14000"/>
              </a:srgbClr>
            </a:outerShdw>
          </a:effectLst>
        </p:spPr>
      </p:sp>
      <p:sp>
        <p:nvSpPr>
          <p:cNvPr id="29" name="Shape 22"/>
          <p:cNvSpPr/>
          <p:nvPr/>
        </p:nvSpPr>
        <p:spPr>
          <a:xfrm>
            <a:off x="9008995" y="1856232"/>
            <a:ext cx="502920" cy="502920"/>
          </a:xfrm>
          <a:prstGeom prst="ellipse">
            <a:avLst/>
          </a:prstGeom>
          <a:solidFill>
            <a:srgbClr val="1F4A24"/>
          </a:solidFill>
        </p:spPr>
      </p:sp>
      <p:pic>
        <p:nvPicPr>
          <p:cNvPr id="30" name="Image 5" descr="preencoded.png"/>
          <p:cNvPicPr>
            <a:picLocks noChangeAspect="1"/>
          </p:cNvPicPr>
          <p:nvPr/>
        </p:nvPicPr>
        <p:blipFill>
          <a:blip r:embed="rId6"/>
          <a:stretch>
            <a:fillRect/>
          </a:stretch>
        </p:blipFill>
        <p:spPr>
          <a:xfrm>
            <a:off x="9122152" y="1969389"/>
            <a:ext cx="276606" cy="276606"/>
          </a:xfrm>
          <a:prstGeom prst="rect">
            <a:avLst/>
          </a:prstGeom>
        </p:spPr>
      </p:pic>
      <p:sp>
        <p:nvSpPr>
          <p:cNvPr id="31" name="Text 23"/>
          <p:cNvSpPr/>
          <p:nvPr/>
        </p:nvSpPr>
        <p:spPr>
          <a:xfrm>
            <a:off x="8606463" y="2441448"/>
            <a:ext cx="1307984" cy="594360"/>
          </a:xfrm>
          <a:prstGeom prst="rect">
            <a:avLst/>
          </a:prstGeom>
          <a:noFill/>
        </p:spPr>
        <p:txBody>
          <a:bodyPr wrap="square" lIns="0" tIns="0" rIns="0" bIns="0" rtlCol="0" anchor="t"/>
          <a:lstStyle/>
          <a:p>
            <a:pPr marL="0" indent="0" algn="ctr">
              <a:buNone/>
            </a:pPr>
            <a:r>
              <a:rPr lang="en-US" sz="1050" b="1" dirty="0">
                <a:solidFill>
                  <a:srgbClr val="1E2B1E"/>
                </a:solidFill>
                <a:latin typeface="Calibri" panose="020F0502020204030204" pitchFamily="34" charset="0"/>
                <a:ea typeface="Calibri" panose="020F0502020204030204" pitchFamily="34" charset="-122"/>
                <a:cs typeface="Calibri" panose="020F0502020204030204" pitchFamily="34" charset="-120"/>
              </a:rPr>
              <a:t>Charts</a:t>
            </a:r>
            <a:endParaRPr lang="en-US" sz="1050" dirty="0"/>
          </a:p>
        </p:txBody>
      </p:sp>
      <p:sp>
        <p:nvSpPr>
          <p:cNvPr id="32" name="Shape 24"/>
          <p:cNvSpPr/>
          <p:nvPr/>
        </p:nvSpPr>
        <p:spPr>
          <a:xfrm>
            <a:off x="9969311" y="2318004"/>
            <a:ext cx="164592" cy="164592"/>
          </a:xfrm>
          <a:prstGeom prst="ellipse">
            <a:avLst/>
          </a:prstGeom>
          <a:solidFill>
            <a:srgbClr val="4C7A3F"/>
          </a:solidFill>
        </p:spPr>
      </p:sp>
      <p:sp>
        <p:nvSpPr>
          <p:cNvPr id="33" name="Shape 25"/>
          <p:cNvSpPr/>
          <p:nvPr/>
        </p:nvSpPr>
        <p:spPr>
          <a:xfrm>
            <a:off x="10133903" y="1691640"/>
            <a:ext cx="1417712" cy="1417320"/>
          </a:xfrm>
          <a:prstGeom prst="roundRect">
            <a:avLst>
              <a:gd name="adj" fmla="val 5806"/>
            </a:avLst>
          </a:prstGeom>
          <a:solidFill>
            <a:srgbClr val="1F4A24"/>
          </a:solidFill>
          <a:effectLst>
            <a:outerShdw blurRad="101600" dist="38100" dir="5400000" algn="bl" rotWithShape="0">
              <a:srgbClr val="1F4A24">
                <a:alpha val="14000"/>
              </a:srgbClr>
            </a:outerShdw>
          </a:effectLst>
        </p:spPr>
      </p:sp>
      <p:sp>
        <p:nvSpPr>
          <p:cNvPr id="34" name="Shape 26"/>
          <p:cNvSpPr/>
          <p:nvPr/>
        </p:nvSpPr>
        <p:spPr>
          <a:xfrm>
            <a:off x="10591299" y="1856232"/>
            <a:ext cx="502920" cy="502920"/>
          </a:xfrm>
          <a:prstGeom prst="ellipse">
            <a:avLst/>
          </a:prstGeom>
          <a:solidFill>
            <a:srgbClr val="FFFFFF"/>
          </a:solidFill>
        </p:spPr>
      </p:sp>
      <p:pic>
        <p:nvPicPr>
          <p:cNvPr id="35" name="Image 6" descr="preencoded.png"/>
          <p:cNvPicPr>
            <a:picLocks noChangeAspect="1"/>
          </p:cNvPicPr>
          <p:nvPr/>
        </p:nvPicPr>
        <p:blipFill>
          <a:blip r:embed="rId7"/>
          <a:stretch>
            <a:fillRect/>
          </a:stretch>
        </p:blipFill>
        <p:spPr>
          <a:xfrm>
            <a:off x="10704456" y="1969389"/>
            <a:ext cx="276606" cy="276606"/>
          </a:xfrm>
          <a:prstGeom prst="rect">
            <a:avLst/>
          </a:prstGeom>
        </p:spPr>
      </p:pic>
      <p:sp>
        <p:nvSpPr>
          <p:cNvPr id="36" name="Text 27"/>
          <p:cNvSpPr/>
          <p:nvPr/>
        </p:nvSpPr>
        <p:spPr>
          <a:xfrm>
            <a:off x="10188767" y="2441448"/>
            <a:ext cx="1307984" cy="594360"/>
          </a:xfrm>
          <a:prstGeom prst="rect">
            <a:avLst/>
          </a:prstGeom>
          <a:noFill/>
        </p:spPr>
        <p:txBody>
          <a:bodyPr wrap="square" lIns="0" tIns="0" rIns="0" bIns="0" rtlCol="0" anchor="t"/>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Interactive Dashboard</a:t>
            </a:r>
            <a:endParaRPr lang="en-US" sz="1050" dirty="0"/>
          </a:p>
        </p:txBody>
      </p:sp>
      <p:sp>
        <p:nvSpPr>
          <p:cNvPr id="37" name="Shape 28"/>
          <p:cNvSpPr/>
          <p:nvPr/>
        </p:nvSpPr>
        <p:spPr>
          <a:xfrm>
            <a:off x="640080" y="3611880"/>
            <a:ext cx="5257800" cy="1965960"/>
          </a:xfrm>
          <a:prstGeom prst="roundRect">
            <a:avLst>
              <a:gd name="adj" fmla="val 4186"/>
            </a:avLst>
          </a:prstGeom>
          <a:solidFill>
            <a:srgbClr val="EAF3E7"/>
          </a:solidFill>
          <a:effectLst>
            <a:outerShdw blurRad="101600" dist="38100" dir="5400000" algn="bl" rotWithShape="0">
              <a:srgbClr val="1F4A24">
                <a:alpha val="14000"/>
              </a:srgbClr>
            </a:outerShdw>
          </a:effectLst>
        </p:spPr>
      </p:sp>
      <p:sp>
        <p:nvSpPr>
          <p:cNvPr id="38" name="Text 29"/>
          <p:cNvSpPr/>
          <p:nvPr/>
        </p:nvSpPr>
        <p:spPr>
          <a:xfrm>
            <a:off x="914400" y="3776472"/>
            <a:ext cx="4572000" cy="365760"/>
          </a:xfrm>
          <a:prstGeom prst="rect">
            <a:avLst/>
          </a:prstGeom>
          <a:noFill/>
        </p:spPr>
        <p:txBody>
          <a:bodyPr wrap="square" lIns="0" tIns="0" rIns="0" bIns="0" rtlCol="0" anchor="ctr"/>
          <a:lstStyle/>
          <a:p>
            <a:pPr marL="0" indent="0">
              <a:buNone/>
            </a:pPr>
            <a:r>
              <a:rPr lang="en-US" sz="1400" b="1" dirty="0">
                <a:solidFill>
                  <a:srgbClr val="1F4A24"/>
                </a:solidFill>
                <a:latin typeface="Calibri" panose="020F0502020204030204" pitchFamily="34" charset="0"/>
                <a:ea typeface="Calibri" panose="020F0502020204030204" pitchFamily="34" charset="-122"/>
                <a:cs typeface="Calibri" panose="020F0502020204030204" pitchFamily="34" charset="-120"/>
              </a:rPr>
              <a:t>Cleaning &amp; Formatting</a:t>
            </a:r>
            <a:endParaRPr lang="en-US" sz="1400" dirty="0"/>
          </a:p>
        </p:txBody>
      </p:sp>
      <p:sp>
        <p:nvSpPr>
          <p:cNvPr id="39" name="Text 30"/>
          <p:cNvSpPr/>
          <p:nvPr/>
        </p:nvSpPr>
        <p:spPr>
          <a:xfrm>
            <a:off x="914400" y="4206240"/>
            <a:ext cx="4754880" cy="1234440"/>
          </a:xfrm>
          <a:prstGeom prst="rect">
            <a:avLst/>
          </a:prstGeom>
          <a:noFill/>
        </p:spPr>
        <p:txBody>
          <a:bodyPr wrap="square" lIns="0" tIns="0" rIns="0" bIns="0" rtlCol="0" anchor="ctr"/>
          <a:lstStyle/>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Removed duplicates</a:t>
            </a:r>
            <a:endParaRPr lang="en-US" sz="1300" dirty="0"/>
          </a:p>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Checked missing values</a:t>
            </a:r>
            <a:endParaRPr lang="en-US" sz="1300" dirty="0"/>
          </a:p>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Standardized formats</a:t>
            </a:r>
            <a:endParaRPr lang="en-US" sz="1300" dirty="0"/>
          </a:p>
        </p:txBody>
      </p:sp>
      <p:sp>
        <p:nvSpPr>
          <p:cNvPr id="40" name="Shape 31"/>
          <p:cNvSpPr/>
          <p:nvPr/>
        </p:nvSpPr>
        <p:spPr>
          <a:xfrm>
            <a:off x="6263640" y="3611880"/>
            <a:ext cx="5257800" cy="1965960"/>
          </a:xfrm>
          <a:prstGeom prst="roundRect">
            <a:avLst>
              <a:gd name="adj" fmla="val 4186"/>
            </a:avLst>
          </a:prstGeom>
          <a:solidFill>
            <a:srgbClr val="EAF3E7"/>
          </a:solidFill>
          <a:effectLst>
            <a:outerShdw blurRad="101600" dist="38100" dir="5400000" algn="bl" rotWithShape="0">
              <a:srgbClr val="1F4A24">
                <a:alpha val="14000"/>
              </a:srgbClr>
            </a:outerShdw>
          </a:effectLst>
        </p:spPr>
      </p:sp>
      <p:sp>
        <p:nvSpPr>
          <p:cNvPr id="41" name="Text 32"/>
          <p:cNvSpPr/>
          <p:nvPr/>
        </p:nvSpPr>
        <p:spPr>
          <a:xfrm>
            <a:off x="6537960" y="3776472"/>
            <a:ext cx="4572000" cy="365760"/>
          </a:xfrm>
          <a:prstGeom prst="rect">
            <a:avLst/>
          </a:prstGeom>
          <a:noFill/>
        </p:spPr>
        <p:txBody>
          <a:bodyPr wrap="square" lIns="0" tIns="0" rIns="0" bIns="0" rtlCol="0" anchor="ctr"/>
          <a:lstStyle/>
          <a:p>
            <a:pPr marL="0" indent="0">
              <a:buNone/>
            </a:pPr>
            <a:r>
              <a:rPr lang="en-US" sz="1400" b="1" dirty="0">
                <a:solidFill>
                  <a:srgbClr val="1F4A24"/>
                </a:solidFill>
                <a:latin typeface="Calibri" panose="020F0502020204030204" pitchFamily="34" charset="0"/>
                <a:ea typeface="Calibri" panose="020F0502020204030204" pitchFamily="34" charset="-122"/>
                <a:cs typeface="Calibri" panose="020F0502020204030204" pitchFamily="34" charset="-120"/>
              </a:rPr>
              <a:t>Analysis &amp; Dashboarding</a:t>
            </a:r>
            <a:endParaRPr lang="en-US" sz="1400" dirty="0"/>
          </a:p>
        </p:txBody>
      </p:sp>
      <p:sp>
        <p:nvSpPr>
          <p:cNvPr id="42" name="Text 33"/>
          <p:cNvSpPr/>
          <p:nvPr/>
        </p:nvSpPr>
        <p:spPr>
          <a:xfrm>
            <a:off x="6537960" y="4206240"/>
            <a:ext cx="4754880" cy="1234440"/>
          </a:xfrm>
          <a:prstGeom prst="rect">
            <a:avLst/>
          </a:prstGeom>
          <a:noFill/>
        </p:spPr>
        <p:txBody>
          <a:bodyPr wrap="square" lIns="0" tIns="0" rIns="0" bIns="0" rtlCol="0" anchor="ctr"/>
          <a:lstStyle/>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Created Pivot Tables</a:t>
            </a:r>
            <a:endParaRPr lang="en-US" sz="1300" dirty="0"/>
          </a:p>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Used slicers</a:t>
            </a:r>
            <a:endParaRPr lang="en-US" sz="1300" dirty="0"/>
          </a:p>
          <a:p>
            <a:pPr marL="342900" indent="-342900">
              <a:spcAft>
                <a:spcPts val="800"/>
              </a:spcAft>
              <a:buSzPct val="100000"/>
              <a:buChar char="•"/>
            </a:pPr>
            <a:r>
              <a:rPr lang="en-US" sz="1300" dirty="0">
                <a:solidFill>
                  <a:srgbClr val="1E2B1E"/>
                </a:solidFill>
                <a:latin typeface="Calibri" panose="020F0502020204030204" pitchFamily="34" charset="0"/>
                <a:ea typeface="Calibri" panose="020F0502020204030204" pitchFamily="34" charset="-122"/>
                <a:cs typeface="Calibri" panose="020F0502020204030204" pitchFamily="34" charset="-120"/>
              </a:rPr>
              <a:t>Created KPIs &amp; interactive charts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3318"/>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59436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Dashboard Overview</a:t>
            </a:r>
            <a:endParaRPr lang="en-US" sz="3000" dirty="0"/>
          </a:p>
        </p:txBody>
      </p:sp>
      <p:sp>
        <p:nvSpPr>
          <p:cNvPr id="3" name="Shape 1"/>
          <p:cNvSpPr/>
          <p:nvPr/>
        </p:nvSpPr>
        <p:spPr>
          <a:xfrm>
            <a:off x="682600" y="1033272"/>
            <a:ext cx="10826496" cy="4525856"/>
          </a:xfrm>
          <a:prstGeom prst="roundRect">
            <a:avLst>
              <a:gd name="adj" fmla="val 1212"/>
            </a:avLst>
          </a:prstGeom>
          <a:solidFill>
            <a:srgbClr val="FFFFFF"/>
          </a:solidFill>
          <a:effectLst>
            <a:outerShdw blurRad="101600" dist="38100" dir="5400000" algn="bl" rotWithShape="0">
              <a:srgbClr val="1F4A24">
                <a:alpha val="14000"/>
              </a:srgbClr>
            </a:outerShdw>
          </a:effectLst>
        </p:spPr>
      </p:sp>
      <p:sp>
        <p:nvSpPr>
          <p:cNvPr id="5" name="Text 2"/>
          <p:cNvSpPr/>
          <p:nvPr/>
        </p:nvSpPr>
        <p:spPr>
          <a:xfrm>
            <a:off x="914400" y="5723720"/>
            <a:ext cx="10332720" cy="457200"/>
          </a:xfrm>
          <a:prstGeom prst="rect">
            <a:avLst/>
          </a:prstGeom>
          <a:noFill/>
        </p:spPr>
        <p:txBody>
          <a:bodyPr wrap="square" lIns="0" tIns="0" rIns="0" bIns="0" rtlCol="0" anchor="ctr"/>
          <a:lstStyle/>
          <a:p>
            <a:pPr marL="0" indent="0" algn="ctr">
              <a:buNone/>
            </a:pPr>
            <a:r>
              <a:rPr lang="en-US" sz="1300" i="1" dirty="0">
                <a:solidFill>
                  <a:srgbClr val="8FBF6B"/>
                </a:solidFill>
                <a:latin typeface="Calibri" panose="020F0502020204030204" pitchFamily="34" charset="0"/>
                <a:ea typeface="Calibri" panose="020F0502020204030204" pitchFamily="34" charset="-122"/>
                <a:cs typeface="Calibri" panose="020F0502020204030204" pitchFamily="34" charset="-120"/>
              </a:rPr>
              <a:t>The dashboard provides interactive visual analysis of plant pricing, discounts, ratings, brands, locations, and product categories.</a:t>
            </a:r>
            <a:endParaRPr lang="en-US" sz="1300" dirty="0"/>
          </a:p>
        </p:txBody>
      </p:sp>
      <p:pic>
        <p:nvPicPr>
          <p:cNvPr id="6" name="Picture 5" descr="Screenshot 2026-08-04 142335"/>
          <p:cNvPicPr>
            <a:picLocks noChangeAspect="1"/>
          </p:cNvPicPr>
          <p:nvPr/>
        </p:nvPicPr>
        <p:blipFill>
          <a:blip r:embed="rId1"/>
          <a:stretch>
            <a:fillRect/>
          </a:stretch>
        </p:blipFill>
        <p:spPr>
          <a:xfrm>
            <a:off x="489585" y="988695"/>
            <a:ext cx="10998200" cy="4672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F3E7"/>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Key Insights</a:t>
            </a:r>
            <a:endParaRPr lang="en-US" sz="3200" dirty="0"/>
          </a:p>
        </p:txBody>
      </p:sp>
      <p:sp>
        <p:nvSpPr>
          <p:cNvPr id="3" name="Shape 1"/>
          <p:cNvSpPr/>
          <p:nvPr/>
        </p:nvSpPr>
        <p:spPr>
          <a:xfrm>
            <a:off x="640080" y="1325880"/>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4" name="Shape 2"/>
          <p:cNvSpPr/>
          <p:nvPr/>
        </p:nvSpPr>
        <p:spPr>
          <a:xfrm>
            <a:off x="1654264" y="1563624"/>
            <a:ext cx="548640" cy="548640"/>
          </a:xfrm>
          <a:prstGeom prst="ellipse">
            <a:avLst/>
          </a:prstGeom>
          <a:solidFill>
            <a:srgbClr val="1F4A24"/>
          </a:solidFill>
        </p:spPr>
      </p:sp>
      <p:pic>
        <p:nvPicPr>
          <p:cNvPr id="5" name="Image 0" descr="preencoded.png"/>
          <p:cNvPicPr>
            <a:picLocks noChangeAspect="1"/>
          </p:cNvPicPr>
          <p:nvPr/>
        </p:nvPicPr>
        <p:blipFill>
          <a:blip r:embed="rId1"/>
          <a:stretch>
            <a:fillRect/>
          </a:stretch>
        </p:blipFill>
        <p:spPr>
          <a:xfrm>
            <a:off x="1785937" y="1695298"/>
            <a:ext cx="285293" cy="285293"/>
          </a:xfrm>
          <a:prstGeom prst="rect">
            <a:avLst/>
          </a:prstGeom>
        </p:spPr>
      </p:pic>
      <p:sp>
        <p:nvSpPr>
          <p:cNvPr id="6" name="Text 3"/>
          <p:cNvSpPr/>
          <p:nvPr/>
        </p:nvSpPr>
        <p:spPr>
          <a:xfrm>
            <a:off x="777240" y="2240280"/>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Higher discounts attract more customers</a:t>
            </a:r>
            <a:endParaRPr lang="en-US" sz="1150" dirty="0"/>
          </a:p>
        </p:txBody>
      </p:sp>
      <p:sp>
        <p:nvSpPr>
          <p:cNvPr id="7" name="Shape 4"/>
          <p:cNvSpPr/>
          <p:nvPr/>
        </p:nvSpPr>
        <p:spPr>
          <a:xfrm>
            <a:off x="3418256" y="1325880"/>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8" name="Shape 5"/>
          <p:cNvSpPr/>
          <p:nvPr/>
        </p:nvSpPr>
        <p:spPr>
          <a:xfrm>
            <a:off x="4432440" y="1563624"/>
            <a:ext cx="548640" cy="548640"/>
          </a:xfrm>
          <a:prstGeom prst="ellipse">
            <a:avLst/>
          </a:prstGeom>
          <a:solidFill>
            <a:srgbClr val="1F4A24"/>
          </a:solidFill>
        </p:spPr>
      </p:sp>
      <p:pic>
        <p:nvPicPr>
          <p:cNvPr id="9" name="Image 1" descr="preencoded.png"/>
          <p:cNvPicPr>
            <a:picLocks noChangeAspect="1"/>
          </p:cNvPicPr>
          <p:nvPr/>
        </p:nvPicPr>
        <p:blipFill>
          <a:blip r:embed="rId2"/>
          <a:stretch>
            <a:fillRect/>
          </a:stretch>
        </p:blipFill>
        <p:spPr>
          <a:xfrm>
            <a:off x="4564113" y="1695298"/>
            <a:ext cx="285293" cy="285293"/>
          </a:xfrm>
          <a:prstGeom prst="rect">
            <a:avLst/>
          </a:prstGeom>
        </p:spPr>
      </p:pic>
      <p:sp>
        <p:nvSpPr>
          <p:cNvPr id="10" name="Text 6"/>
          <p:cNvSpPr/>
          <p:nvPr/>
        </p:nvSpPr>
        <p:spPr>
          <a:xfrm>
            <a:off x="3555416" y="2240280"/>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Ratings reflect product quality &amp; satisfaction</a:t>
            </a:r>
            <a:endParaRPr lang="en-US" sz="1150" dirty="0"/>
          </a:p>
        </p:txBody>
      </p:sp>
      <p:sp>
        <p:nvSpPr>
          <p:cNvPr id="11" name="Shape 7"/>
          <p:cNvSpPr/>
          <p:nvPr/>
        </p:nvSpPr>
        <p:spPr>
          <a:xfrm>
            <a:off x="6196432" y="1325880"/>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12" name="Shape 8"/>
          <p:cNvSpPr/>
          <p:nvPr/>
        </p:nvSpPr>
        <p:spPr>
          <a:xfrm>
            <a:off x="7210616" y="1563624"/>
            <a:ext cx="548640" cy="548640"/>
          </a:xfrm>
          <a:prstGeom prst="ellipse">
            <a:avLst/>
          </a:prstGeom>
          <a:solidFill>
            <a:srgbClr val="1F4A24"/>
          </a:solidFill>
        </p:spPr>
      </p:sp>
      <p:pic>
        <p:nvPicPr>
          <p:cNvPr id="13" name="Image 2" descr="preencoded.png"/>
          <p:cNvPicPr>
            <a:picLocks noChangeAspect="1"/>
          </p:cNvPicPr>
          <p:nvPr/>
        </p:nvPicPr>
        <p:blipFill>
          <a:blip r:embed="rId3"/>
          <a:stretch>
            <a:fillRect/>
          </a:stretch>
        </p:blipFill>
        <p:spPr>
          <a:xfrm>
            <a:off x="7342289" y="1695298"/>
            <a:ext cx="285293" cy="285293"/>
          </a:xfrm>
          <a:prstGeom prst="rect">
            <a:avLst/>
          </a:prstGeom>
        </p:spPr>
      </p:pic>
      <p:sp>
        <p:nvSpPr>
          <p:cNvPr id="14" name="Text 9"/>
          <p:cNvSpPr/>
          <p:nvPr/>
        </p:nvSpPr>
        <p:spPr>
          <a:xfrm>
            <a:off x="6333592" y="2240280"/>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A few brands dominate the market</a:t>
            </a:r>
            <a:endParaRPr lang="en-US" sz="1150" dirty="0"/>
          </a:p>
        </p:txBody>
      </p:sp>
      <p:sp>
        <p:nvSpPr>
          <p:cNvPr id="15" name="Shape 10"/>
          <p:cNvSpPr/>
          <p:nvPr/>
        </p:nvSpPr>
        <p:spPr>
          <a:xfrm>
            <a:off x="8974607" y="1325880"/>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16" name="Shape 11"/>
          <p:cNvSpPr/>
          <p:nvPr/>
        </p:nvSpPr>
        <p:spPr>
          <a:xfrm>
            <a:off x="9988791" y="1563624"/>
            <a:ext cx="548640" cy="548640"/>
          </a:xfrm>
          <a:prstGeom prst="ellipse">
            <a:avLst/>
          </a:prstGeom>
          <a:solidFill>
            <a:srgbClr val="1F4A24"/>
          </a:solidFill>
        </p:spPr>
      </p:sp>
      <p:pic>
        <p:nvPicPr>
          <p:cNvPr id="17" name="Image 3" descr="preencoded.png"/>
          <p:cNvPicPr>
            <a:picLocks noChangeAspect="1"/>
          </p:cNvPicPr>
          <p:nvPr/>
        </p:nvPicPr>
        <p:blipFill>
          <a:blip r:embed="rId4"/>
          <a:stretch>
            <a:fillRect/>
          </a:stretch>
        </p:blipFill>
        <p:spPr>
          <a:xfrm>
            <a:off x="10120465" y="1695298"/>
            <a:ext cx="285293" cy="285293"/>
          </a:xfrm>
          <a:prstGeom prst="rect">
            <a:avLst/>
          </a:prstGeom>
        </p:spPr>
      </p:pic>
      <p:sp>
        <p:nvSpPr>
          <p:cNvPr id="18" name="Text 12"/>
          <p:cNvSpPr/>
          <p:nvPr/>
        </p:nvSpPr>
        <p:spPr>
          <a:xfrm>
            <a:off x="9111767" y="2240280"/>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Certain locations show higher availability</a:t>
            </a:r>
            <a:endParaRPr lang="en-US" sz="1150" dirty="0"/>
          </a:p>
        </p:txBody>
      </p:sp>
      <p:sp>
        <p:nvSpPr>
          <p:cNvPr id="19" name="Shape 13"/>
          <p:cNvSpPr/>
          <p:nvPr/>
        </p:nvSpPr>
        <p:spPr>
          <a:xfrm>
            <a:off x="640080" y="3493008"/>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20" name="Shape 14"/>
          <p:cNvSpPr/>
          <p:nvPr/>
        </p:nvSpPr>
        <p:spPr>
          <a:xfrm>
            <a:off x="1654264" y="3730752"/>
            <a:ext cx="548640" cy="548640"/>
          </a:xfrm>
          <a:prstGeom prst="ellipse">
            <a:avLst/>
          </a:prstGeom>
          <a:solidFill>
            <a:srgbClr val="1F4A24"/>
          </a:solidFill>
        </p:spPr>
      </p:sp>
      <p:pic>
        <p:nvPicPr>
          <p:cNvPr id="21" name="Image 4" descr="preencoded.png"/>
          <p:cNvPicPr>
            <a:picLocks noChangeAspect="1"/>
          </p:cNvPicPr>
          <p:nvPr/>
        </p:nvPicPr>
        <p:blipFill>
          <a:blip r:embed="rId5"/>
          <a:stretch>
            <a:fillRect/>
          </a:stretch>
        </p:blipFill>
        <p:spPr>
          <a:xfrm>
            <a:off x="1785937" y="3862426"/>
            <a:ext cx="285293" cy="285293"/>
          </a:xfrm>
          <a:prstGeom prst="rect">
            <a:avLst/>
          </a:prstGeom>
        </p:spPr>
      </p:pic>
      <p:sp>
        <p:nvSpPr>
          <p:cNvPr id="22" name="Text 15"/>
          <p:cNvSpPr/>
          <p:nvPr/>
        </p:nvSpPr>
        <p:spPr>
          <a:xfrm>
            <a:off x="777240" y="4407408"/>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Price varies across plant categories</a:t>
            </a:r>
            <a:endParaRPr lang="en-US" sz="1150" dirty="0"/>
          </a:p>
        </p:txBody>
      </p:sp>
      <p:sp>
        <p:nvSpPr>
          <p:cNvPr id="23" name="Shape 16"/>
          <p:cNvSpPr/>
          <p:nvPr/>
        </p:nvSpPr>
        <p:spPr>
          <a:xfrm>
            <a:off x="3418256" y="3493008"/>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24" name="Shape 17"/>
          <p:cNvSpPr/>
          <p:nvPr/>
        </p:nvSpPr>
        <p:spPr>
          <a:xfrm>
            <a:off x="4432440" y="3730752"/>
            <a:ext cx="548640" cy="548640"/>
          </a:xfrm>
          <a:prstGeom prst="ellipse">
            <a:avLst/>
          </a:prstGeom>
          <a:solidFill>
            <a:srgbClr val="1F4A24"/>
          </a:solidFill>
        </p:spPr>
      </p:sp>
      <p:pic>
        <p:nvPicPr>
          <p:cNvPr id="25" name="Image 5" descr="preencoded.png"/>
          <p:cNvPicPr>
            <a:picLocks noChangeAspect="1"/>
          </p:cNvPicPr>
          <p:nvPr/>
        </p:nvPicPr>
        <p:blipFill>
          <a:blip r:embed="rId6"/>
          <a:stretch>
            <a:fillRect/>
          </a:stretch>
        </p:blipFill>
        <p:spPr>
          <a:xfrm>
            <a:off x="4564113" y="3862426"/>
            <a:ext cx="285293" cy="285293"/>
          </a:xfrm>
          <a:prstGeom prst="rect">
            <a:avLst/>
          </a:prstGeom>
        </p:spPr>
      </p:pic>
      <p:sp>
        <p:nvSpPr>
          <p:cNvPr id="26" name="Text 18"/>
          <p:cNvSpPr/>
          <p:nvPr/>
        </p:nvSpPr>
        <p:spPr>
          <a:xfrm>
            <a:off x="3555416" y="4407408"/>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Special prices strongly influence purchases</a:t>
            </a:r>
            <a:endParaRPr lang="en-US" sz="1150" dirty="0"/>
          </a:p>
        </p:txBody>
      </p:sp>
      <p:sp>
        <p:nvSpPr>
          <p:cNvPr id="27" name="Shape 19"/>
          <p:cNvSpPr/>
          <p:nvPr/>
        </p:nvSpPr>
        <p:spPr>
          <a:xfrm>
            <a:off x="6196432" y="3493008"/>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28" name="Shape 20"/>
          <p:cNvSpPr/>
          <p:nvPr/>
        </p:nvSpPr>
        <p:spPr>
          <a:xfrm>
            <a:off x="7210616" y="3730752"/>
            <a:ext cx="548640" cy="548640"/>
          </a:xfrm>
          <a:prstGeom prst="ellipse">
            <a:avLst/>
          </a:prstGeom>
          <a:solidFill>
            <a:srgbClr val="1F4A24"/>
          </a:solidFill>
        </p:spPr>
      </p:sp>
      <p:pic>
        <p:nvPicPr>
          <p:cNvPr id="29" name="Image 6" descr="preencoded.png"/>
          <p:cNvPicPr>
            <a:picLocks noChangeAspect="1"/>
          </p:cNvPicPr>
          <p:nvPr/>
        </p:nvPicPr>
        <p:blipFill>
          <a:blip r:embed="rId7"/>
          <a:stretch>
            <a:fillRect/>
          </a:stretch>
        </p:blipFill>
        <p:spPr>
          <a:xfrm>
            <a:off x="7342289" y="3862426"/>
            <a:ext cx="285293" cy="285293"/>
          </a:xfrm>
          <a:prstGeom prst="rect">
            <a:avLst/>
          </a:prstGeom>
        </p:spPr>
      </p:pic>
      <p:sp>
        <p:nvSpPr>
          <p:cNvPr id="30" name="Text 21"/>
          <p:cNvSpPr/>
          <p:nvPr/>
        </p:nvSpPr>
        <p:spPr>
          <a:xfrm>
            <a:off x="6333592" y="4407408"/>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Plant sizes vary across brands</a:t>
            </a:r>
            <a:endParaRPr lang="en-US" sz="1150" dirty="0"/>
          </a:p>
        </p:txBody>
      </p:sp>
      <p:sp>
        <p:nvSpPr>
          <p:cNvPr id="31" name="Shape 22"/>
          <p:cNvSpPr/>
          <p:nvPr/>
        </p:nvSpPr>
        <p:spPr>
          <a:xfrm>
            <a:off x="8974607" y="3493008"/>
            <a:ext cx="2577008" cy="1965960"/>
          </a:xfrm>
          <a:prstGeom prst="roundRect">
            <a:avLst>
              <a:gd name="adj" fmla="val 4186"/>
            </a:avLst>
          </a:prstGeom>
          <a:solidFill>
            <a:srgbClr val="FFFFFF"/>
          </a:solidFill>
          <a:effectLst>
            <a:outerShdw blurRad="101600" dist="38100" dir="5400000" algn="bl" rotWithShape="0">
              <a:srgbClr val="1F4A24">
                <a:alpha val="14000"/>
              </a:srgbClr>
            </a:outerShdw>
          </a:effectLst>
        </p:spPr>
      </p:sp>
      <p:sp>
        <p:nvSpPr>
          <p:cNvPr id="32" name="Shape 23"/>
          <p:cNvSpPr/>
          <p:nvPr/>
        </p:nvSpPr>
        <p:spPr>
          <a:xfrm>
            <a:off x="9988791" y="3730752"/>
            <a:ext cx="548640" cy="548640"/>
          </a:xfrm>
          <a:prstGeom prst="ellipse">
            <a:avLst/>
          </a:prstGeom>
          <a:solidFill>
            <a:srgbClr val="1F4A24"/>
          </a:solidFill>
        </p:spPr>
      </p:sp>
      <p:pic>
        <p:nvPicPr>
          <p:cNvPr id="33" name="Image 7" descr="preencoded.png"/>
          <p:cNvPicPr>
            <a:picLocks noChangeAspect="1"/>
          </p:cNvPicPr>
          <p:nvPr/>
        </p:nvPicPr>
        <p:blipFill>
          <a:blip r:embed="rId8"/>
          <a:stretch>
            <a:fillRect/>
          </a:stretch>
        </p:blipFill>
        <p:spPr>
          <a:xfrm>
            <a:off x="10120465" y="3862426"/>
            <a:ext cx="285293" cy="285293"/>
          </a:xfrm>
          <a:prstGeom prst="rect">
            <a:avLst/>
          </a:prstGeom>
        </p:spPr>
      </p:pic>
      <p:sp>
        <p:nvSpPr>
          <p:cNvPr id="34" name="Text 24"/>
          <p:cNvSpPr/>
          <p:nvPr/>
        </p:nvSpPr>
        <p:spPr>
          <a:xfrm>
            <a:off x="9111767" y="4407408"/>
            <a:ext cx="2302688" cy="914400"/>
          </a:xfrm>
          <a:prstGeom prst="rect">
            <a:avLst/>
          </a:prstGeom>
          <a:noFill/>
        </p:spPr>
        <p:txBody>
          <a:bodyPr wrap="square" lIns="0" tIns="0" rIns="0" bIns="0" rtlCol="0" anchor="t"/>
          <a:lstStyle/>
          <a:p>
            <a:pPr marL="0" indent="0" algn="ctr">
              <a:buNone/>
            </a:pPr>
            <a:r>
              <a:rPr lang="en-US" sz="1150" dirty="0">
                <a:solidFill>
                  <a:srgbClr val="1E2B1E"/>
                </a:solidFill>
                <a:latin typeface="Calibri" panose="020F0502020204030204" pitchFamily="34" charset="0"/>
                <a:ea typeface="Calibri" panose="020F0502020204030204" pitchFamily="34" charset="-122"/>
                <a:cs typeface="Calibri" panose="020F0502020204030204" pitchFamily="34" charset="-120"/>
              </a:rPr>
              <a:t>Discount strategy drives competitiveness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Business Recommendations</a:t>
            </a:r>
            <a:endParaRPr lang="en-US" sz="3200" dirty="0"/>
          </a:p>
        </p:txBody>
      </p:sp>
      <p:sp>
        <p:nvSpPr>
          <p:cNvPr id="3" name="Shape 1"/>
          <p:cNvSpPr/>
          <p:nvPr/>
        </p:nvSpPr>
        <p:spPr>
          <a:xfrm>
            <a:off x="640080" y="1371600"/>
            <a:ext cx="5318608" cy="914400"/>
          </a:xfrm>
          <a:prstGeom prst="roundRect">
            <a:avLst>
              <a:gd name="adj" fmla="val 9000"/>
            </a:avLst>
          </a:prstGeom>
          <a:solidFill>
            <a:srgbClr val="EAF3E7"/>
          </a:solidFill>
        </p:spPr>
      </p:sp>
      <p:sp>
        <p:nvSpPr>
          <p:cNvPr id="4" name="Shape 2"/>
          <p:cNvSpPr/>
          <p:nvPr/>
        </p:nvSpPr>
        <p:spPr>
          <a:xfrm>
            <a:off x="822960" y="1577340"/>
            <a:ext cx="502920" cy="502920"/>
          </a:xfrm>
          <a:prstGeom prst="ellipse">
            <a:avLst/>
          </a:prstGeom>
          <a:solidFill>
            <a:srgbClr val="1F4A24"/>
          </a:solidFill>
        </p:spPr>
      </p:sp>
      <p:pic>
        <p:nvPicPr>
          <p:cNvPr id="5" name="Image 0" descr="preencoded.png"/>
          <p:cNvPicPr>
            <a:picLocks noChangeAspect="1"/>
          </p:cNvPicPr>
          <p:nvPr/>
        </p:nvPicPr>
        <p:blipFill>
          <a:blip r:embed="rId1"/>
          <a:stretch>
            <a:fillRect/>
          </a:stretch>
        </p:blipFill>
        <p:spPr>
          <a:xfrm>
            <a:off x="936117" y="1690497"/>
            <a:ext cx="276606" cy="276606"/>
          </a:xfrm>
          <a:prstGeom prst="rect">
            <a:avLst/>
          </a:prstGeom>
        </p:spPr>
      </p:pic>
      <p:sp>
        <p:nvSpPr>
          <p:cNvPr id="6" name="Text 3"/>
          <p:cNvSpPr/>
          <p:nvPr/>
        </p:nvSpPr>
        <p:spPr>
          <a:xfrm>
            <a:off x="1508760" y="1371600"/>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Optimize pricing strategies</a:t>
            </a:r>
            <a:endParaRPr lang="en-US" sz="1300" dirty="0"/>
          </a:p>
        </p:txBody>
      </p:sp>
      <p:sp>
        <p:nvSpPr>
          <p:cNvPr id="7" name="Shape 4"/>
          <p:cNvSpPr/>
          <p:nvPr/>
        </p:nvSpPr>
        <p:spPr>
          <a:xfrm>
            <a:off x="6233008" y="1371600"/>
            <a:ext cx="5318608" cy="914400"/>
          </a:xfrm>
          <a:prstGeom prst="roundRect">
            <a:avLst>
              <a:gd name="adj" fmla="val 9000"/>
            </a:avLst>
          </a:prstGeom>
          <a:solidFill>
            <a:srgbClr val="EAF3E7"/>
          </a:solidFill>
        </p:spPr>
      </p:sp>
      <p:sp>
        <p:nvSpPr>
          <p:cNvPr id="8" name="Shape 5"/>
          <p:cNvSpPr/>
          <p:nvPr/>
        </p:nvSpPr>
        <p:spPr>
          <a:xfrm>
            <a:off x="6415888" y="1577340"/>
            <a:ext cx="502920" cy="502920"/>
          </a:xfrm>
          <a:prstGeom prst="ellipse">
            <a:avLst/>
          </a:prstGeom>
          <a:solidFill>
            <a:srgbClr val="1F4A24"/>
          </a:solidFill>
        </p:spPr>
      </p:sp>
      <p:pic>
        <p:nvPicPr>
          <p:cNvPr id="9" name="Image 1" descr="preencoded.png"/>
          <p:cNvPicPr>
            <a:picLocks noChangeAspect="1"/>
          </p:cNvPicPr>
          <p:nvPr/>
        </p:nvPicPr>
        <p:blipFill>
          <a:blip r:embed="rId2"/>
          <a:stretch>
            <a:fillRect/>
          </a:stretch>
        </p:blipFill>
        <p:spPr>
          <a:xfrm>
            <a:off x="6529045" y="1690497"/>
            <a:ext cx="276606" cy="276606"/>
          </a:xfrm>
          <a:prstGeom prst="rect">
            <a:avLst/>
          </a:prstGeom>
        </p:spPr>
      </p:pic>
      <p:sp>
        <p:nvSpPr>
          <p:cNvPr id="10" name="Text 6"/>
          <p:cNvSpPr/>
          <p:nvPr/>
        </p:nvSpPr>
        <p:spPr>
          <a:xfrm>
            <a:off x="7101688" y="1371600"/>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Increase discounts on slow-moving products</a:t>
            </a:r>
            <a:endParaRPr lang="en-US" sz="1300" dirty="0"/>
          </a:p>
        </p:txBody>
      </p:sp>
      <p:sp>
        <p:nvSpPr>
          <p:cNvPr id="11" name="Shape 7"/>
          <p:cNvSpPr/>
          <p:nvPr/>
        </p:nvSpPr>
        <p:spPr>
          <a:xfrm>
            <a:off x="640080" y="2450592"/>
            <a:ext cx="5318608" cy="914400"/>
          </a:xfrm>
          <a:prstGeom prst="roundRect">
            <a:avLst>
              <a:gd name="adj" fmla="val 9000"/>
            </a:avLst>
          </a:prstGeom>
          <a:solidFill>
            <a:srgbClr val="EAF3E7"/>
          </a:solidFill>
        </p:spPr>
      </p:sp>
      <p:sp>
        <p:nvSpPr>
          <p:cNvPr id="12" name="Shape 8"/>
          <p:cNvSpPr/>
          <p:nvPr/>
        </p:nvSpPr>
        <p:spPr>
          <a:xfrm>
            <a:off x="822960" y="2656332"/>
            <a:ext cx="502920" cy="502920"/>
          </a:xfrm>
          <a:prstGeom prst="ellipse">
            <a:avLst/>
          </a:prstGeom>
          <a:solidFill>
            <a:srgbClr val="1F4A24"/>
          </a:solidFill>
        </p:spPr>
      </p:sp>
      <p:pic>
        <p:nvPicPr>
          <p:cNvPr id="13" name="Image 2" descr="preencoded.png"/>
          <p:cNvPicPr>
            <a:picLocks noChangeAspect="1"/>
          </p:cNvPicPr>
          <p:nvPr/>
        </p:nvPicPr>
        <p:blipFill>
          <a:blip r:embed="rId3"/>
          <a:stretch>
            <a:fillRect/>
          </a:stretch>
        </p:blipFill>
        <p:spPr>
          <a:xfrm>
            <a:off x="936117" y="2769489"/>
            <a:ext cx="276606" cy="276606"/>
          </a:xfrm>
          <a:prstGeom prst="rect">
            <a:avLst/>
          </a:prstGeom>
        </p:spPr>
      </p:pic>
      <p:sp>
        <p:nvSpPr>
          <p:cNvPr id="14" name="Text 9"/>
          <p:cNvSpPr/>
          <p:nvPr/>
        </p:nvSpPr>
        <p:spPr>
          <a:xfrm>
            <a:off x="1508760" y="2450592"/>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Focus on highly-rated products</a:t>
            </a:r>
            <a:endParaRPr lang="en-US" sz="1300" dirty="0"/>
          </a:p>
        </p:txBody>
      </p:sp>
      <p:sp>
        <p:nvSpPr>
          <p:cNvPr id="15" name="Shape 10"/>
          <p:cNvSpPr/>
          <p:nvPr/>
        </p:nvSpPr>
        <p:spPr>
          <a:xfrm>
            <a:off x="6233008" y="2450592"/>
            <a:ext cx="5318608" cy="914400"/>
          </a:xfrm>
          <a:prstGeom prst="roundRect">
            <a:avLst>
              <a:gd name="adj" fmla="val 9000"/>
            </a:avLst>
          </a:prstGeom>
          <a:solidFill>
            <a:srgbClr val="EAF3E7"/>
          </a:solidFill>
        </p:spPr>
      </p:sp>
      <p:sp>
        <p:nvSpPr>
          <p:cNvPr id="16" name="Shape 11"/>
          <p:cNvSpPr/>
          <p:nvPr/>
        </p:nvSpPr>
        <p:spPr>
          <a:xfrm>
            <a:off x="6415888" y="2656332"/>
            <a:ext cx="502920" cy="502920"/>
          </a:xfrm>
          <a:prstGeom prst="ellipse">
            <a:avLst/>
          </a:prstGeom>
          <a:solidFill>
            <a:srgbClr val="1F4A24"/>
          </a:solidFill>
        </p:spPr>
      </p:sp>
      <p:pic>
        <p:nvPicPr>
          <p:cNvPr id="17" name="Image 3" descr="preencoded.png"/>
          <p:cNvPicPr>
            <a:picLocks noChangeAspect="1"/>
          </p:cNvPicPr>
          <p:nvPr/>
        </p:nvPicPr>
        <p:blipFill>
          <a:blip r:embed="rId4"/>
          <a:stretch>
            <a:fillRect/>
          </a:stretch>
        </p:blipFill>
        <p:spPr>
          <a:xfrm>
            <a:off x="6529045" y="2769489"/>
            <a:ext cx="276606" cy="276606"/>
          </a:xfrm>
          <a:prstGeom prst="rect">
            <a:avLst/>
          </a:prstGeom>
        </p:spPr>
      </p:pic>
      <p:sp>
        <p:nvSpPr>
          <p:cNvPr id="18" name="Text 12"/>
          <p:cNvSpPr/>
          <p:nvPr/>
        </p:nvSpPr>
        <p:spPr>
          <a:xfrm>
            <a:off x="7101688" y="2450592"/>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Expand availability in high-demand locations</a:t>
            </a:r>
            <a:endParaRPr lang="en-US" sz="1300" dirty="0"/>
          </a:p>
        </p:txBody>
      </p:sp>
      <p:sp>
        <p:nvSpPr>
          <p:cNvPr id="19" name="Shape 13"/>
          <p:cNvSpPr/>
          <p:nvPr/>
        </p:nvSpPr>
        <p:spPr>
          <a:xfrm>
            <a:off x="640080" y="3529584"/>
            <a:ext cx="5318608" cy="914400"/>
          </a:xfrm>
          <a:prstGeom prst="roundRect">
            <a:avLst>
              <a:gd name="adj" fmla="val 9000"/>
            </a:avLst>
          </a:prstGeom>
          <a:solidFill>
            <a:srgbClr val="EAF3E7"/>
          </a:solidFill>
        </p:spPr>
      </p:sp>
      <p:sp>
        <p:nvSpPr>
          <p:cNvPr id="20" name="Shape 14"/>
          <p:cNvSpPr/>
          <p:nvPr/>
        </p:nvSpPr>
        <p:spPr>
          <a:xfrm>
            <a:off x="822960" y="3735324"/>
            <a:ext cx="502920" cy="502920"/>
          </a:xfrm>
          <a:prstGeom prst="ellipse">
            <a:avLst/>
          </a:prstGeom>
          <a:solidFill>
            <a:srgbClr val="1F4A24"/>
          </a:solidFill>
        </p:spPr>
      </p:sp>
      <p:pic>
        <p:nvPicPr>
          <p:cNvPr id="21" name="Image 4" descr="preencoded.png"/>
          <p:cNvPicPr>
            <a:picLocks noChangeAspect="1"/>
          </p:cNvPicPr>
          <p:nvPr/>
        </p:nvPicPr>
        <p:blipFill>
          <a:blip r:embed="rId5"/>
          <a:stretch>
            <a:fillRect/>
          </a:stretch>
        </p:blipFill>
        <p:spPr>
          <a:xfrm>
            <a:off x="936117" y="3848481"/>
            <a:ext cx="276606" cy="276606"/>
          </a:xfrm>
          <a:prstGeom prst="rect">
            <a:avLst/>
          </a:prstGeom>
        </p:spPr>
      </p:pic>
      <p:sp>
        <p:nvSpPr>
          <p:cNvPr id="22" name="Text 15"/>
          <p:cNvSpPr/>
          <p:nvPr/>
        </p:nvSpPr>
        <p:spPr>
          <a:xfrm>
            <a:off x="1508760" y="3529584"/>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Promote top-performing brands</a:t>
            </a:r>
            <a:endParaRPr lang="en-US" sz="1300" dirty="0"/>
          </a:p>
        </p:txBody>
      </p:sp>
      <p:sp>
        <p:nvSpPr>
          <p:cNvPr id="23" name="Shape 16"/>
          <p:cNvSpPr/>
          <p:nvPr/>
        </p:nvSpPr>
        <p:spPr>
          <a:xfrm>
            <a:off x="6233008" y="3529584"/>
            <a:ext cx="5318608" cy="914400"/>
          </a:xfrm>
          <a:prstGeom prst="roundRect">
            <a:avLst>
              <a:gd name="adj" fmla="val 9000"/>
            </a:avLst>
          </a:prstGeom>
          <a:solidFill>
            <a:srgbClr val="EAF3E7"/>
          </a:solidFill>
        </p:spPr>
      </p:sp>
      <p:sp>
        <p:nvSpPr>
          <p:cNvPr id="24" name="Shape 17"/>
          <p:cNvSpPr/>
          <p:nvPr/>
        </p:nvSpPr>
        <p:spPr>
          <a:xfrm>
            <a:off x="6415888" y="3735324"/>
            <a:ext cx="502920" cy="502920"/>
          </a:xfrm>
          <a:prstGeom prst="ellipse">
            <a:avLst/>
          </a:prstGeom>
          <a:solidFill>
            <a:srgbClr val="1F4A24"/>
          </a:solidFill>
        </p:spPr>
      </p:sp>
      <p:pic>
        <p:nvPicPr>
          <p:cNvPr id="25" name="Image 5" descr="preencoded.png"/>
          <p:cNvPicPr>
            <a:picLocks noChangeAspect="1"/>
          </p:cNvPicPr>
          <p:nvPr/>
        </p:nvPicPr>
        <p:blipFill>
          <a:blip r:embed="rId6"/>
          <a:stretch>
            <a:fillRect/>
          </a:stretch>
        </p:blipFill>
        <p:spPr>
          <a:xfrm>
            <a:off x="6529045" y="3848481"/>
            <a:ext cx="276606" cy="276606"/>
          </a:xfrm>
          <a:prstGeom prst="rect">
            <a:avLst/>
          </a:prstGeom>
        </p:spPr>
      </p:pic>
      <p:sp>
        <p:nvSpPr>
          <p:cNvPr id="26" name="Text 18"/>
          <p:cNvSpPr/>
          <p:nvPr/>
        </p:nvSpPr>
        <p:spPr>
          <a:xfrm>
            <a:off x="7101688" y="3529584"/>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Improve low-rated products</a:t>
            </a:r>
            <a:endParaRPr lang="en-US" sz="1300" dirty="0"/>
          </a:p>
        </p:txBody>
      </p:sp>
      <p:sp>
        <p:nvSpPr>
          <p:cNvPr id="27" name="Shape 19"/>
          <p:cNvSpPr/>
          <p:nvPr/>
        </p:nvSpPr>
        <p:spPr>
          <a:xfrm>
            <a:off x="640080" y="4608576"/>
            <a:ext cx="5318608" cy="914400"/>
          </a:xfrm>
          <a:prstGeom prst="roundRect">
            <a:avLst>
              <a:gd name="adj" fmla="val 9000"/>
            </a:avLst>
          </a:prstGeom>
          <a:solidFill>
            <a:srgbClr val="EAF3E7"/>
          </a:solidFill>
        </p:spPr>
      </p:sp>
      <p:sp>
        <p:nvSpPr>
          <p:cNvPr id="28" name="Shape 20"/>
          <p:cNvSpPr/>
          <p:nvPr/>
        </p:nvSpPr>
        <p:spPr>
          <a:xfrm>
            <a:off x="822960" y="4814316"/>
            <a:ext cx="502920" cy="502920"/>
          </a:xfrm>
          <a:prstGeom prst="ellipse">
            <a:avLst/>
          </a:prstGeom>
          <a:solidFill>
            <a:srgbClr val="1F4A24"/>
          </a:solidFill>
        </p:spPr>
      </p:sp>
      <p:pic>
        <p:nvPicPr>
          <p:cNvPr id="29" name="Image 6" descr="preencoded.png"/>
          <p:cNvPicPr>
            <a:picLocks noChangeAspect="1"/>
          </p:cNvPicPr>
          <p:nvPr/>
        </p:nvPicPr>
        <p:blipFill>
          <a:blip r:embed="rId7"/>
          <a:stretch>
            <a:fillRect/>
          </a:stretch>
        </p:blipFill>
        <p:spPr>
          <a:xfrm>
            <a:off x="936117" y="4927473"/>
            <a:ext cx="276606" cy="276606"/>
          </a:xfrm>
          <a:prstGeom prst="rect">
            <a:avLst/>
          </a:prstGeom>
        </p:spPr>
      </p:pic>
      <p:sp>
        <p:nvSpPr>
          <p:cNvPr id="30" name="Text 21"/>
          <p:cNvSpPr/>
          <p:nvPr/>
        </p:nvSpPr>
        <p:spPr>
          <a:xfrm>
            <a:off x="1508760" y="4608576"/>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Monitor return patterns</a:t>
            </a:r>
            <a:endParaRPr lang="en-US" sz="1300" dirty="0"/>
          </a:p>
        </p:txBody>
      </p:sp>
      <p:sp>
        <p:nvSpPr>
          <p:cNvPr id="31" name="Shape 22"/>
          <p:cNvSpPr/>
          <p:nvPr/>
        </p:nvSpPr>
        <p:spPr>
          <a:xfrm>
            <a:off x="6233008" y="4608576"/>
            <a:ext cx="5318608" cy="914400"/>
          </a:xfrm>
          <a:prstGeom prst="roundRect">
            <a:avLst>
              <a:gd name="adj" fmla="val 9000"/>
            </a:avLst>
          </a:prstGeom>
          <a:solidFill>
            <a:srgbClr val="EAF3E7"/>
          </a:solidFill>
        </p:spPr>
      </p:sp>
      <p:sp>
        <p:nvSpPr>
          <p:cNvPr id="32" name="Shape 23"/>
          <p:cNvSpPr/>
          <p:nvPr/>
        </p:nvSpPr>
        <p:spPr>
          <a:xfrm>
            <a:off x="6415888" y="4814316"/>
            <a:ext cx="502920" cy="502920"/>
          </a:xfrm>
          <a:prstGeom prst="ellipse">
            <a:avLst/>
          </a:prstGeom>
          <a:solidFill>
            <a:srgbClr val="1F4A24"/>
          </a:solidFill>
        </p:spPr>
      </p:sp>
      <p:pic>
        <p:nvPicPr>
          <p:cNvPr id="33" name="Image 7" descr="preencoded.png"/>
          <p:cNvPicPr>
            <a:picLocks noChangeAspect="1"/>
          </p:cNvPicPr>
          <p:nvPr/>
        </p:nvPicPr>
        <p:blipFill>
          <a:blip r:embed="rId8"/>
          <a:stretch>
            <a:fillRect/>
          </a:stretch>
        </p:blipFill>
        <p:spPr>
          <a:xfrm>
            <a:off x="6529045" y="4927473"/>
            <a:ext cx="276606" cy="276606"/>
          </a:xfrm>
          <a:prstGeom prst="rect">
            <a:avLst/>
          </a:prstGeom>
        </p:spPr>
      </p:pic>
      <p:sp>
        <p:nvSpPr>
          <p:cNvPr id="34" name="Text 24"/>
          <p:cNvSpPr/>
          <p:nvPr/>
        </p:nvSpPr>
        <p:spPr>
          <a:xfrm>
            <a:off x="7101688" y="4608576"/>
            <a:ext cx="4312768" cy="914400"/>
          </a:xfrm>
          <a:prstGeom prst="rect">
            <a:avLst/>
          </a:prstGeom>
          <a:noFill/>
        </p:spPr>
        <p:txBody>
          <a:bodyPr wrap="square" lIns="0" tIns="0" rIns="0" bIns="0" rtlCol="0" anchor="ctr"/>
          <a:lstStyle/>
          <a:p>
            <a:pPr marL="0" indent="0">
              <a:buNone/>
            </a:pPr>
            <a:r>
              <a:rPr lang="en-US" sz="1300" b="1" dirty="0">
                <a:solidFill>
                  <a:srgbClr val="1E2B1E"/>
                </a:solidFill>
                <a:latin typeface="Calibri" panose="020F0502020204030204" pitchFamily="34" charset="0"/>
                <a:ea typeface="Calibri" panose="020F0502020204030204" pitchFamily="34" charset="-122"/>
                <a:cs typeface="Calibri" panose="020F0502020204030204" pitchFamily="34" charset="-120"/>
              </a:rPr>
              <a:t>Update pricing based on market trends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F3E7"/>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640080"/>
          </a:xfrm>
          <a:prstGeom prst="rect">
            <a:avLst/>
          </a:prstGeom>
          <a:noFill/>
        </p:spPr>
        <p:txBody>
          <a:bodyPr wrap="square" lIns="0" tIns="0" rIns="0" bIns="0" rtlCol="0" anchor="ctr"/>
          <a:lstStyle/>
          <a:p>
            <a:pPr marL="0" indent="0">
              <a:buNone/>
            </a:pPr>
            <a:r>
              <a:rPr lang="en-US" sz="3200" b="1" dirty="0">
                <a:solidFill>
                  <a:srgbClr val="1F4A24"/>
                </a:solidFill>
                <a:latin typeface="Cambria" panose="02040503050406030204" pitchFamily="34" charset="0"/>
                <a:ea typeface="Cambria" panose="02040503050406030204" pitchFamily="34" charset="-122"/>
                <a:cs typeface="Cambria" panose="02040503050406030204" pitchFamily="34" charset="-120"/>
              </a:rPr>
              <a:t>Tools &amp; Skills Used</a:t>
            </a:r>
            <a:endParaRPr lang="en-US" sz="3200" dirty="0"/>
          </a:p>
        </p:txBody>
      </p:sp>
      <p:sp>
        <p:nvSpPr>
          <p:cNvPr id="3" name="Shape 1"/>
          <p:cNvSpPr/>
          <p:nvPr/>
        </p:nvSpPr>
        <p:spPr>
          <a:xfrm>
            <a:off x="640080" y="1371600"/>
            <a:ext cx="5257800" cy="4892040"/>
          </a:xfrm>
          <a:prstGeom prst="roundRect">
            <a:avLst>
              <a:gd name="adj" fmla="val 1682"/>
            </a:avLst>
          </a:prstGeom>
          <a:solidFill>
            <a:srgbClr val="FFFFFF"/>
          </a:solidFill>
          <a:effectLst>
            <a:outerShdw blurRad="101600" dist="38100" dir="5400000" algn="bl" rotWithShape="0">
              <a:srgbClr val="1F4A24">
                <a:alpha val="14000"/>
              </a:srgbClr>
            </a:outerShdw>
          </a:effectLst>
        </p:spPr>
      </p:sp>
      <p:sp>
        <p:nvSpPr>
          <p:cNvPr id="4" name="Text 2"/>
          <p:cNvSpPr/>
          <p:nvPr/>
        </p:nvSpPr>
        <p:spPr>
          <a:xfrm>
            <a:off x="914400" y="1627632"/>
            <a:ext cx="4572000" cy="457200"/>
          </a:xfrm>
          <a:prstGeom prst="rect">
            <a:avLst/>
          </a:prstGeom>
          <a:noFill/>
        </p:spPr>
        <p:txBody>
          <a:bodyPr wrap="square" lIns="0" tIns="0" rIns="0" bIns="0" rtlCol="0" anchor="ctr"/>
          <a:lstStyle/>
          <a:p>
            <a:pPr marL="0" indent="0">
              <a:buNone/>
            </a:pPr>
            <a:r>
              <a:rPr lang="en-US" sz="1900" b="1" dirty="0">
                <a:solidFill>
                  <a:srgbClr val="1F4A24"/>
                </a:solidFill>
                <a:latin typeface="Calibri" panose="020F0502020204030204" pitchFamily="34" charset="0"/>
                <a:ea typeface="Calibri" panose="020F0502020204030204" pitchFamily="34" charset="-122"/>
                <a:cs typeface="Calibri" panose="020F0502020204030204" pitchFamily="34" charset="-120"/>
              </a:rPr>
              <a:t>Tools</a:t>
            </a:r>
            <a:endParaRPr lang="en-US" sz="1900" dirty="0"/>
          </a:p>
        </p:txBody>
      </p:sp>
      <p:pic>
        <p:nvPicPr>
          <p:cNvPr id="5" name="Image 0" descr="preencoded.png"/>
          <p:cNvPicPr>
            <a:picLocks noChangeAspect="1"/>
          </p:cNvPicPr>
          <p:nvPr/>
        </p:nvPicPr>
        <p:blipFill>
          <a:blip r:embed="rId1"/>
          <a:stretch>
            <a:fillRect/>
          </a:stretch>
        </p:blipFill>
        <p:spPr>
          <a:xfrm>
            <a:off x="914400" y="2286000"/>
            <a:ext cx="365760" cy="365760"/>
          </a:xfrm>
          <a:prstGeom prst="rect">
            <a:avLst/>
          </a:prstGeom>
        </p:spPr>
      </p:pic>
      <p:sp>
        <p:nvSpPr>
          <p:cNvPr id="6" name="Text 3"/>
          <p:cNvSpPr/>
          <p:nvPr/>
        </p:nvSpPr>
        <p:spPr>
          <a:xfrm>
            <a:off x="1463040" y="2286000"/>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Microsoft Excel</a:t>
            </a:r>
            <a:endParaRPr lang="en-US" sz="1350" dirty="0"/>
          </a:p>
        </p:txBody>
      </p:sp>
      <p:pic>
        <p:nvPicPr>
          <p:cNvPr id="7" name="Image 1" descr="preencoded.png"/>
          <p:cNvPicPr>
            <a:picLocks noChangeAspect="1"/>
          </p:cNvPicPr>
          <p:nvPr/>
        </p:nvPicPr>
        <p:blipFill>
          <a:blip r:embed="rId2"/>
          <a:stretch>
            <a:fillRect/>
          </a:stretch>
        </p:blipFill>
        <p:spPr>
          <a:xfrm>
            <a:off x="914400" y="2816352"/>
            <a:ext cx="365760" cy="365760"/>
          </a:xfrm>
          <a:prstGeom prst="rect">
            <a:avLst/>
          </a:prstGeom>
        </p:spPr>
      </p:pic>
      <p:sp>
        <p:nvSpPr>
          <p:cNvPr id="8" name="Text 4"/>
          <p:cNvSpPr/>
          <p:nvPr/>
        </p:nvSpPr>
        <p:spPr>
          <a:xfrm>
            <a:off x="1463040" y="2816352"/>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Pivot Tables</a:t>
            </a:r>
            <a:endParaRPr lang="en-US" sz="1350" dirty="0"/>
          </a:p>
        </p:txBody>
      </p:sp>
      <p:pic>
        <p:nvPicPr>
          <p:cNvPr id="9" name="Image 2" descr="preencoded.png"/>
          <p:cNvPicPr>
            <a:picLocks noChangeAspect="1"/>
          </p:cNvPicPr>
          <p:nvPr/>
        </p:nvPicPr>
        <p:blipFill>
          <a:blip r:embed="rId3"/>
          <a:stretch>
            <a:fillRect/>
          </a:stretch>
        </p:blipFill>
        <p:spPr>
          <a:xfrm>
            <a:off x="914400" y="3346704"/>
            <a:ext cx="365760" cy="365760"/>
          </a:xfrm>
          <a:prstGeom prst="rect">
            <a:avLst/>
          </a:prstGeom>
        </p:spPr>
      </p:pic>
      <p:sp>
        <p:nvSpPr>
          <p:cNvPr id="10" name="Text 5"/>
          <p:cNvSpPr/>
          <p:nvPr/>
        </p:nvSpPr>
        <p:spPr>
          <a:xfrm>
            <a:off x="1463040" y="3346704"/>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Pivot Charts</a:t>
            </a:r>
            <a:endParaRPr lang="en-US" sz="1350" dirty="0"/>
          </a:p>
        </p:txBody>
      </p:sp>
      <p:pic>
        <p:nvPicPr>
          <p:cNvPr id="11" name="Image 3" descr="preencoded.png"/>
          <p:cNvPicPr>
            <a:picLocks noChangeAspect="1"/>
          </p:cNvPicPr>
          <p:nvPr/>
        </p:nvPicPr>
        <p:blipFill>
          <a:blip r:embed="rId4"/>
          <a:stretch>
            <a:fillRect/>
          </a:stretch>
        </p:blipFill>
        <p:spPr>
          <a:xfrm>
            <a:off x="914400" y="3877056"/>
            <a:ext cx="365760" cy="365760"/>
          </a:xfrm>
          <a:prstGeom prst="rect">
            <a:avLst/>
          </a:prstGeom>
        </p:spPr>
      </p:pic>
      <p:sp>
        <p:nvSpPr>
          <p:cNvPr id="12" name="Text 6"/>
          <p:cNvSpPr/>
          <p:nvPr/>
        </p:nvSpPr>
        <p:spPr>
          <a:xfrm>
            <a:off x="1463040" y="3877056"/>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Slicers</a:t>
            </a:r>
            <a:endParaRPr lang="en-US" sz="1350" dirty="0"/>
          </a:p>
        </p:txBody>
      </p:sp>
      <p:pic>
        <p:nvPicPr>
          <p:cNvPr id="13" name="Image 4" descr="preencoded.png"/>
          <p:cNvPicPr>
            <a:picLocks noChangeAspect="1"/>
          </p:cNvPicPr>
          <p:nvPr/>
        </p:nvPicPr>
        <p:blipFill>
          <a:blip r:embed="rId5"/>
          <a:stretch>
            <a:fillRect/>
          </a:stretch>
        </p:blipFill>
        <p:spPr>
          <a:xfrm>
            <a:off x="914400" y="4407408"/>
            <a:ext cx="365760" cy="365760"/>
          </a:xfrm>
          <a:prstGeom prst="rect">
            <a:avLst/>
          </a:prstGeom>
        </p:spPr>
      </p:pic>
      <p:sp>
        <p:nvSpPr>
          <p:cNvPr id="14" name="Text 7"/>
          <p:cNvSpPr/>
          <p:nvPr/>
        </p:nvSpPr>
        <p:spPr>
          <a:xfrm>
            <a:off x="1463040" y="4407408"/>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Conditional Formatting</a:t>
            </a:r>
            <a:endParaRPr lang="en-US" sz="1350" dirty="0"/>
          </a:p>
        </p:txBody>
      </p:sp>
      <p:pic>
        <p:nvPicPr>
          <p:cNvPr id="15" name="Image 5" descr="preencoded.png"/>
          <p:cNvPicPr>
            <a:picLocks noChangeAspect="1"/>
          </p:cNvPicPr>
          <p:nvPr/>
        </p:nvPicPr>
        <p:blipFill>
          <a:blip r:embed="rId6"/>
          <a:stretch>
            <a:fillRect/>
          </a:stretch>
        </p:blipFill>
        <p:spPr>
          <a:xfrm>
            <a:off x="914400" y="4937760"/>
            <a:ext cx="365760" cy="365760"/>
          </a:xfrm>
          <a:prstGeom prst="rect">
            <a:avLst/>
          </a:prstGeom>
        </p:spPr>
      </p:pic>
      <p:sp>
        <p:nvSpPr>
          <p:cNvPr id="16" name="Text 8"/>
          <p:cNvSpPr/>
          <p:nvPr/>
        </p:nvSpPr>
        <p:spPr>
          <a:xfrm>
            <a:off x="1463040" y="4937760"/>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Data Cleaning</a:t>
            </a:r>
            <a:endParaRPr lang="en-US" sz="1350" dirty="0"/>
          </a:p>
        </p:txBody>
      </p:sp>
      <p:pic>
        <p:nvPicPr>
          <p:cNvPr id="17" name="Image 6" descr="preencoded.png"/>
          <p:cNvPicPr>
            <a:picLocks noChangeAspect="1"/>
          </p:cNvPicPr>
          <p:nvPr/>
        </p:nvPicPr>
        <p:blipFill>
          <a:blip r:embed="rId7"/>
          <a:stretch>
            <a:fillRect/>
          </a:stretch>
        </p:blipFill>
        <p:spPr>
          <a:xfrm>
            <a:off x="914400" y="5468112"/>
            <a:ext cx="365760" cy="365760"/>
          </a:xfrm>
          <a:prstGeom prst="rect">
            <a:avLst/>
          </a:prstGeom>
        </p:spPr>
      </p:pic>
      <p:sp>
        <p:nvSpPr>
          <p:cNvPr id="18" name="Text 9"/>
          <p:cNvSpPr/>
          <p:nvPr/>
        </p:nvSpPr>
        <p:spPr>
          <a:xfrm>
            <a:off x="1463040" y="5468112"/>
            <a:ext cx="4206240" cy="365760"/>
          </a:xfrm>
          <a:prstGeom prst="rect">
            <a:avLst/>
          </a:prstGeom>
          <a:noFill/>
        </p:spPr>
        <p:txBody>
          <a:bodyPr wrap="square" lIns="0" tIns="0" rIns="0" bIns="0" rtlCol="0" anchor="ctr"/>
          <a:lstStyle/>
          <a:p>
            <a:pPr marL="0" indent="0">
              <a:buNone/>
            </a:pPr>
            <a:r>
              <a:rPr lang="en-US" sz="1350" dirty="0">
                <a:solidFill>
                  <a:srgbClr val="1E2B1E"/>
                </a:solidFill>
                <a:latin typeface="Calibri" panose="020F0502020204030204" pitchFamily="34" charset="0"/>
                <a:ea typeface="Calibri" panose="020F0502020204030204" pitchFamily="34" charset="-122"/>
                <a:cs typeface="Calibri" panose="020F0502020204030204" pitchFamily="34" charset="-120"/>
              </a:rPr>
              <a:t>Data Analysis</a:t>
            </a:r>
            <a:endParaRPr lang="en-US" sz="1350" dirty="0"/>
          </a:p>
        </p:txBody>
      </p:sp>
      <p:sp>
        <p:nvSpPr>
          <p:cNvPr id="19" name="Shape 10"/>
          <p:cNvSpPr/>
          <p:nvPr/>
        </p:nvSpPr>
        <p:spPr>
          <a:xfrm>
            <a:off x="6263640" y="1371600"/>
            <a:ext cx="5257800" cy="4892040"/>
          </a:xfrm>
          <a:prstGeom prst="roundRect">
            <a:avLst>
              <a:gd name="adj" fmla="val 1682"/>
            </a:avLst>
          </a:prstGeom>
          <a:solidFill>
            <a:srgbClr val="1F4A24"/>
          </a:solidFill>
          <a:effectLst>
            <a:outerShdw blurRad="101600" dist="38100" dir="5400000" algn="bl" rotWithShape="0">
              <a:srgbClr val="1F4A24">
                <a:alpha val="14000"/>
              </a:srgbClr>
            </a:outerShdw>
          </a:effectLst>
        </p:spPr>
      </p:sp>
      <p:sp>
        <p:nvSpPr>
          <p:cNvPr id="20" name="Text 11"/>
          <p:cNvSpPr/>
          <p:nvPr/>
        </p:nvSpPr>
        <p:spPr>
          <a:xfrm>
            <a:off x="6537960" y="1627632"/>
            <a:ext cx="4572000" cy="457200"/>
          </a:xfrm>
          <a:prstGeom prst="rect">
            <a:avLst/>
          </a:prstGeom>
          <a:noFill/>
        </p:spPr>
        <p:txBody>
          <a:bodyPr wrap="square" lIns="0" tIns="0" rIns="0" bIns="0" rtlCol="0" anchor="ctr"/>
          <a:lstStyle/>
          <a:p>
            <a:pPr marL="0" indent="0">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Skills</a:t>
            </a:r>
            <a:endParaRPr lang="en-US" sz="1900" dirty="0"/>
          </a:p>
        </p:txBody>
      </p:sp>
      <p:pic>
        <p:nvPicPr>
          <p:cNvPr id="21" name="Image 7" descr="preencoded.png"/>
          <p:cNvPicPr>
            <a:picLocks noChangeAspect="1"/>
          </p:cNvPicPr>
          <p:nvPr/>
        </p:nvPicPr>
        <p:blipFill>
          <a:blip r:embed="rId8"/>
          <a:stretch>
            <a:fillRect/>
          </a:stretch>
        </p:blipFill>
        <p:spPr>
          <a:xfrm>
            <a:off x="6537960" y="2286000"/>
            <a:ext cx="365760" cy="365760"/>
          </a:xfrm>
          <a:prstGeom prst="rect">
            <a:avLst/>
          </a:prstGeom>
        </p:spPr>
      </p:pic>
      <p:sp>
        <p:nvSpPr>
          <p:cNvPr id="22" name="Text 12"/>
          <p:cNvSpPr/>
          <p:nvPr/>
        </p:nvSpPr>
        <p:spPr>
          <a:xfrm>
            <a:off x="7086600" y="2286000"/>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a:t>
            </a:r>
            <a:endParaRPr lang="en-US" sz="1350" dirty="0"/>
          </a:p>
        </p:txBody>
      </p:sp>
      <p:pic>
        <p:nvPicPr>
          <p:cNvPr id="23" name="Image 8" descr="preencoded.png"/>
          <p:cNvPicPr>
            <a:picLocks noChangeAspect="1"/>
          </p:cNvPicPr>
          <p:nvPr/>
        </p:nvPicPr>
        <p:blipFill>
          <a:blip r:embed="rId9"/>
          <a:stretch>
            <a:fillRect/>
          </a:stretch>
        </p:blipFill>
        <p:spPr>
          <a:xfrm>
            <a:off x="6537960" y="2816352"/>
            <a:ext cx="365760" cy="365760"/>
          </a:xfrm>
          <a:prstGeom prst="rect">
            <a:avLst/>
          </a:prstGeom>
        </p:spPr>
      </p:pic>
      <p:sp>
        <p:nvSpPr>
          <p:cNvPr id="24" name="Text 13"/>
          <p:cNvSpPr/>
          <p:nvPr/>
        </p:nvSpPr>
        <p:spPr>
          <a:xfrm>
            <a:off x="7086600" y="2816352"/>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Data Visualization</a:t>
            </a:r>
            <a:endParaRPr lang="en-US" sz="1350" dirty="0"/>
          </a:p>
        </p:txBody>
      </p:sp>
      <p:pic>
        <p:nvPicPr>
          <p:cNvPr id="25" name="Image 9" descr="preencoded.png"/>
          <p:cNvPicPr>
            <a:picLocks noChangeAspect="1"/>
          </p:cNvPicPr>
          <p:nvPr/>
        </p:nvPicPr>
        <p:blipFill>
          <a:blip r:embed="rId10"/>
          <a:stretch>
            <a:fillRect/>
          </a:stretch>
        </p:blipFill>
        <p:spPr>
          <a:xfrm>
            <a:off x="6537960" y="3346704"/>
            <a:ext cx="365760" cy="365760"/>
          </a:xfrm>
          <a:prstGeom prst="rect">
            <a:avLst/>
          </a:prstGeom>
        </p:spPr>
      </p:pic>
      <p:sp>
        <p:nvSpPr>
          <p:cNvPr id="26" name="Text 14"/>
          <p:cNvSpPr/>
          <p:nvPr/>
        </p:nvSpPr>
        <p:spPr>
          <a:xfrm>
            <a:off x="7086600" y="3346704"/>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 Development</a:t>
            </a:r>
            <a:endParaRPr lang="en-US" sz="1350" dirty="0"/>
          </a:p>
        </p:txBody>
      </p:sp>
      <p:pic>
        <p:nvPicPr>
          <p:cNvPr id="27" name="Image 10" descr="preencoded.png"/>
          <p:cNvPicPr>
            <a:picLocks noChangeAspect="1"/>
          </p:cNvPicPr>
          <p:nvPr/>
        </p:nvPicPr>
        <p:blipFill>
          <a:blip r:embed="rId11"/>
          <a:stretch>
            <a:fillRect/>
          </a:stretch>
        </p:blipFill>
        <p:spPr>
          <a:xfrm>
            <a:off x="6537960" y="3877056"/>
            <a:ext cx="365760" cy="365760"/>
          </a:xfrm>
          <a:prstGeom prst="rect">
            <a:avLst/>
          </a:prstGeom>
        </p:spPr>
      </p:pic>
      <p:sp>
        <p:nvSpPr>
          <p:cNvPr id="28" name="Text 15"/>
          <p:cNvSpPr/>
          <p:nvPr/>
        </p:nvSpPr>
        <p:spPr>
          <a:xfrm>
            <a:off x="7086600" y="3877056"/>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Business Analysis</a:t>
            </a:r>
            <a:endParaRPr lang="en-US" sz="1350" dirty="0"/>
          </a:p>
        </p:txBody>
      </p:sp>
      <p:pic>
        <p:nvPicPr>
          <p:cNvPr id="29" name="Image 11" descr="preencoded.png"/>
          <p:cNvPicPr>
            <a:picLocks noChangeAspect="1"/>
          </p:cNvPicPr>
          <p:nvPr/>
        </p:nvPicPr>
        <p:blipFill>
          <a:blip r:embed="rId12"/>
          <a:stretch>
            <a:fillRect/>
          </a:stretch>
        </p:blipFill>
        <p:spPr>
          <a:xfrm>
            <a:off x="6537960" y="4407408"/>
            <a:ext cx="365760" cy="365760"/>
          </a:xfrm>
          <a:prstGeom prst="rect">
            <a:avLst/>
          </a:prstGeom>
        </p:spPr>
      </p:pic>
      <p:sp>
        <p:nvSpPr>
          <p:cNvPr id="30" name="Text 16"/>
          <p:cNvSpPr/>
          <p:nvPr/>
        </p:nvSpPr>
        <p:spPr>
          <a:xfrm>
            <a:off x="7086600" y="4407408"/>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Reporting</a:t>
            </a:r>
            <a:endParaRPr lang="en-US" sz="1350" dirty="0"/>
          </a:p>
        </p:txBody>
      </p:sp>
      <p:pic>
        <p:nvPicPr>
          <p:cNvPr id="31" name="Image 12" descr="preencoded.png"/>
          <p:cNvPicPr>
            <a:picLocks noChangeAspect="1"/>
          </p:cNvPicPr>
          <p:nvPr/>
        </p:nvPicPr>
        <p:blipFill>
          <a:blip r:embed="rId13"/>
          <a:stretch>
            <a:fillRect/>
          </a:stretch>
        </p:blipFill>
        <p:spPr>
          <a:xfrm>
            <a:off x="6537960" y="4937760"/>
            <a:ext cx="365760" cy="365760"/>
          </a:xfrm>
          <a:prstGeom prst="rect">
            <a:avLst/>
          </a:prstGeom>
        </p:spPr>
      </p:pic>
      <p:sp>
        <p:nvSpPr>
          <p:cNvPr id="32" name="Text 17"/>
          <p:cNvSpPr/>
          <p:nvPr/>
        </p:nvSpPr>
        <p:spPr>
          <a:xfrm>
            <a:off x="7086600" y="4937760"/>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Analytical Thinking</a:t>
            </a:r>
            <a:endParaRPr lang="en-US" sz="1350" dirty="0"/>
          </a:p>
        </p:txBody>
      </p:sp>
      <p:pic>
        <p:nvPicPr>
          <p:cNvPr id="33" name="Image 13" descr="preencoded.png"/>
          <p:cNvPicPr>
            <a:picLocks noChangeAspect="1"/>
          </p:cNvPicPr>
          <p:nvPr/>
        </p:nvPicPr>
        <p:blipFill>
          <a:blip r:embed="rId14"/>
          <a:stretch>
            <a:fillRect/>
          </a:stretch>
        </p:blipFill>
        <p:spPr>
          <a:xfrm>
            <a:off x="6537960" y="5468112"/>
            <a:ext cx="365760" cy="365760"/>
          </a:xfrm>
          <a:prstGeom prst="rect">
            <a:avLst/>
          </a:prstGeom>
        </p:spPr>
      </p:pic>
      <p:sp>
        <p:nvSpPr>
          <p:cNvPr id="34" name="Text 18"/>
          <p:cNvSpPr/>
          <p:nvPr/>
        </p:nvSpPr>
        <p:spPr>
          <a:xfrm>
            <a:off x="7086600" y="5468112"/>
            <a:ext cx="4206240" cy="365760"/>
          </a:xfrm>
          <a:prstGeom prst="rect">
            <a:avLst/>
          </a:prstGeom>
          <a:noFill/>
        </p:spPr>
        <p:txBody>
          <a:bodyPr wrap="square" lIns="0" tIns="0" rIns="0" bIns="0"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KPI Reporting</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3318"/>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943600" cy="5943600"/>
          </a:xfrm>
          <a:prstGeom prst="ellipse">
            <a:avLst/>
          </a:prstGeom>
          <a:solidFill>
            <a:srgbClr val="1F4A24"/>
          </a:solidFill>
        </p:spPr>
      </p:sp>
      <p:sp>
        <p:nvSpPr>
          <p:cNvPr id="3" name="Shape 1"/>
          <p:cNvSpPr/>
          <p:nvPr/>
        </p:nvSpPr>
        <p:spPr>
          <a:xfrm>
            <a:off x="9875520" y="-2194560"/>
            <a:ext cx="4572000" cy="4572000"/>
          </a:xfrm>
          <a:prstGeom prst="ellipse">
            <a:avLst/>
          </a:prstGeom>
          <a:solidFill>
            <a:srgbClr val="1F4A24"/>
          </a:solidFill>
        </p:spPr>
      </p:sp>
      <p:sp>
        <p:nvSpPr>
          <p:cNvPr id="4" name="Text 2"/>
          <p:cNvSpPr/>
          <p:nvPr/>
        </p:nvSpPr>
        <p:spPr>
          <a:xfrm>
            <a:off x="822960" y="548640"/>
            <a:ext cx="7315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3000" dirty="0"/>
          </a:p>
        </p:txBody>
      </p:sp>
      <p:sp>
        <p:nvSpPr>
          <p:cNvPr id="5" name="Text 3"/>
          <p:cNvSpPr/>
          <p:nvPr/>
        </p:nvSpPr>
        <p:spPr>
          <a:xfrm>
            <a:off x="822960" y="1325880"/>
            <a:ext cx="10424160" cy="1554480"/>
          </a:xfrm>
          <a:prstGeom prst="rect">
            <a:avLst/>
          </a:prstGeom>
          <a:noFill/>
        </p:spPr>
        <p:txBody>
          <a:bodyPr wrap="square" lIns="0" tIns="0" rIns="0" bIns="0" rtlCol="0" anchor="ctr"/>
          <a:lstStyle/>
          <a:p>
            <a:pPr marL="0" indent="0">
              <a:lnSpc>
                <a:spcPct val="1250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The Plant Sales &amp; Pricing Analytics Dashboard successfully transforms raw product data into meaningful business insights. It enables efficient analysis of pricing, discounts, ratings, brands, and product categories through interactive visualizations — supporting informed decision-making, improving reporting efficiency, and demonstrating practical Excel dashboard development skills for business analytics.</a:t>
            </a:r>
            <a:endParaRPr lang="en-US" sz="1500" dirty="0"/>
          </a:p>
        </p:txBody>
      </p:sp>
      <p:sp>
        <p:nvSpPr>
          <p:cNvPr id="6" name="Shape 4"/>
          <p:cNvSpPr/>
          <p:nvPr/>
        </p:nvSpPr>
        <p:spPr>
          <a:xfrm>
            <a:off x="822960" y="3063240"/>
            <a:ext cx="10424160" cy="0"/>
          </a:xfrm>
          <a:prstGeom prst="line">
            <a:avLst/>
          </a:prstGeom>
          <a:noFill/>
          <a:ln w="12700">
            <a:solidFill>
              <a:srgbClr val="4C7A3F"/>
            </a:solidFill>
            <a:prstDash val="solid"/>
          </a:ln>
        </p:spPr>
      </p:sp>
      <p:sp>
        <p:nvSpPr>
          <p:cNvPr id="7" name="Shape 5"/>
          <p:cNvSpPr/>
          <p:nvPr/>
        </p:nvSpPr>
        <p:spPr>
          <a:xfrm>
            <a:off x="5592928" y="3429000"/>
            <a:ext cx="1005840" cy="1005840"/>
          </a:xfrm>
          <a:prstGeom prst="ellipse">
            <a:avLst/>
          </a:prstGeom>
          <a:solidFill>
            <a:srgbClr val="8FBF6B"/>
          </a:solidFill>
        </p:spPr>
      </p:sp>
      <p:pic>
        <p:nvPicPr>
          <p:cNvPr id="8" name="Image 0" descr="preencoded.png"/>
          <p:cNvPicPr>
            <a:picLocks noChangeAspect="1"/>
          </p:cNvPicPr>
          <p:nvPr/>
        </p:nvPicPr>
        <p:blipFill>
          <a:blip r:embed="rId1"/>
          <a:stretch>
            <a:fillRect/>
          </a:stretch>
        </p:blipFill>
        <p:spPr>
          <a:xfrm>
            <a:off x="5819242" y="3655314"/>
            <a:ext cx="553212" cy="553212"/>
          </a:xfrm>
          <a:prstGeom prst="rect">
            <a:avLst/>
          </a:prstGeom>
        </p:spPr>
      </p:pic>
      <p:sp>
        <p:nvSpPr>
          <p:cNvPr id="9" name="Text 6"/>
          <p:cNvSpPr/>
          <p:nvPr/>
        </p:nvSpPr>
        <p:spPr>
          <a:xfrm>
            <a:off x="822960" y="4572000"/>
            <a:ext cx="10424160" cy="822960"/>
          </a:xfrm>
          <a:prstGeom prst="rect">
            <a:avLst/>
          </a:prstGeom>
          <a:noFill/>
        </p:spPr>
        <p:txBody>
          <a:bodyPr wrap="square" lIns="0" tIns="0" rIns="0" bIns="0" rtlCol="0" anchor="ctr"/>
          <a:lstStyle/>
          <a:p>
            <a:pPr marL="0" indent="0" algn="ctr">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000" dirty="0"/>
          </a:p>
        </p:txBody>
      </p:sp>
      <p:sp>
        <p:nvSpPr>
          <p:cNvPr id="10" name="Text 7"/>
          <p:cNvSpPr/>
          <p:nvPr/>
        </p:nvSpPr>
        <p:spPr>
          <a:xfrm>
            <a:off x="822960" y="5349240"/>
            <a:ext cx="10424160" cy="457200"/>
          </a:xfrm>
          <a:prstGeom prst="rect">
            <a:avLst/>
          </a:prstGeom>
          <a:noFill/>
        </p:spPr>
        <p:txBody>
          <a:bodyPr wrap="square" lIns="0" tIns="0" rIns="0" bIns="0" rtlCol="0" anchor="ctr"/>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3636</Words>
  <Application>WPS Presentation</Application>
  <PresentationFormat>On-screen Show (16:9)</PresentationFormat>
  <Paragraphs>212</Paragraphs>
  <Slides>11</Slides>
  <Notes>11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Sales &amp; Pricing Analytics Dashboard</dc:title>
  <dc:creator>Plant Sales Analytics</dc:creator>
  <dc:subject>PptxGenJS Presentation</dc:subject>
  <cp:lastModifiedBy>WPS_1762446975</cp:lastModifiedBy>
  <cp:revision>3</cp:revision>
  <dcterms:created xsi:type="dcterms:W3CDTF">2026-07-06T18:03:00Z</dcterms:created>
  <dcterms:modified xsi:type="dcterms:W3CDTF">2026-08-04T08:57:05Z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89A07C2E30FF4E179A3B23784C354D4D_12</vt:lpwstr>
  </property>
  <property fmtid="{D5CDD505-2E9C-101B-9397-08002B2CF9AE}" pid="3" name="KSOProductBuildVer">
    <vt:lpwstr>1033-12.1.0.28032</vt:lpwstr>
  </property>
</Properties>
</file>